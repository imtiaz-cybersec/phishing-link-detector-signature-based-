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4630400" cy="8229600"/>
  <p:notesSz cx="8229600" cy="14630400"/>
  <p:embeddedFontLst>
    <p:embeddedFont>
      <p:font typeface="Prompt Medium"/>
      <p:regular r:id="rId17"/>
    </p:embeddedFont>
    <p:embeddedFont>
      <p:font typeface="Prompt Medium"/>
      <p:regular r:id="rId18"/>
    </p:embeddedFont>
    <p:embeddedFont>
      <p:font typeface="Prompt Medium"/>
      <p:regular r:id="rId19"/>
    </p:embeddedFont>
    <p:embeddedFont>
      <p:font typeface="Prompt Medium"/>
      <p:regular r:id="rId20"/>
    </p:embeddedFont>
    <p:embeddedFont>
      <p:font typeface="Mukta Light"/>
      <p:regular r:id="rId21"/>
    </p:embeddedFont>
    <p:embeddedFont>
      <p:font typeface="Mukta Light"/>
      <p:regular r:id="rId22"/>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pn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3-1.png"/><Relationship Id="rId2" Type="http://schemas.openxmlformats.org/officeDocument/2006/relationships/image" Target="../media/image-1003-2.pn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4-1.png"/><Relationship Id="rId2" Type="http://schemas.openxmlformats.org/officeDocument/2006/relationships/image" Target="../media/image-1004-2.png"/><Relationship Id="rId4"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5-1.png"/><Relationship Id="rId2" Type="http://schemas.openxmlformats.org/officeDocument/2006/relationships/image" Target="../media/image-1005-2.png"/><Relationship Id="rId4"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6-1.png"/><Relationship Id="rId2" Type="http://schemas.openxmlformats.org/officeDocument/2006/relationships/image" Target="../media/image-1006-2.png"/><Relationship Id="rId4"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7-1.png"/><Relationship Id="rId2" Type="http://schemas.openxmlformats.org/officeDocument/2006/relationships/image" Target="../media/image-1007-2.png"/><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8-1.png"/><Relationship Id="rId2" Type="http://schemas.openxmlformats.org/officeDocument/2006/relationships/image" Target="../media/image-1008-2.png"/><Relationship Id="rId4"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9-1.png"/><Relationship Id="rId2" Type="http://schemas.openxmlformats.org/officeDocument/2006/relationships/image" Target="../media/image-1009-2.png"/><Relationship Id="rId4"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0-1.png"/><Relationship Id="rId2" Type="http://schemas.openxmlformats.org/officeDocument/2006/relationships/image" Target="../media/image-1010-2.png"/><Relationship Id="rId4"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1-1.png"/><Relationship Id="rId2" Type="http://schemas.openxmlformats.org/officeDocument/2006/relationships/image" Target="../media/image-1011-2.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7.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svg"/><Relationship Id="rId4" Type="http://schemas.openxmlformats.org/officeDocument/2006/relationships/image" Target="../media/image-7-4.png"/><Relationship Id="rId5" Type="http://schemas.openxmlformats.org/officeDocument/2006/relationships/image" Target="../media/image-7-5.svg"/><Relationship Id="rId6" Type="http://schemas.openxmlformats.org/officeDocument/2006/relationships/image" Target="../media/image-7-6.png"/><Relationship Id="rId7" Type="http://schemas.openxmlformats.org/officeDocument/2006/relationships/image" Target="../media/image-7-7.svg"/><Relationship Id="rId8" Type="http://schemas.openxmlformats.org/officeDocument/2006/relationships/slideLayout" Target="../slideLayouts/slideLayout8.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9.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0.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864037" y="854869"/>
            <a:ext cx="7415927" cy="1371600"/>
          </a:xfrm>
          <a:prstGeom prst="rect">
            <a:avLst/>
          </a:prstGeom>
          <a:noFill/>
          <a:ln/>
        </p:spPr>
        <p:txBody>
          <a:bodyPr wrap="square" lIns="0" tIns="0" rIns="0" bIns="0" rtlCol="0" anchor="t"/>
          <a:lstStyle/>
          <a:p>
            <a:pPr algn="l" indent="0" marL="0">
              <a:lnSpc>
                <a:spcPts val="5400"/>
              </a:lnSpc>
              <a:buNone/>
            </a:pPr>
            <a:r>
              <a:rPr lang="en-US" sz="4300" dirty="0">
                <a:solidFill>
                  <a:srgbClr val="C6BFEE"/>
                </a:solidFill>
                <a:latin typeface="Prompt Medium" pitchFamily="34" charset="0"/>
                <a:ea typeface="Prompt Medium" pitchFamily="34" charset="-122"/>
                <a:cs typeface="Prompt Medium" pitchFamily="34" charset="-120"/>
              </a:rPr>
              <a:t>The Kingdom’s First Digital Weapon </a:t>
            </a:r>
            <a:endParaRPr lang="en-US" sz="4300" dirty="0"/>
          </a:p>
        </p:txBody>
      </p:sp>
      <p:sp>
        <p:nvSpPr>
          <p:cNvPr id="4" name="Text 1"/>
          <p:cNvSpPr/>
          <p:nvPr/>
        </p:nvSpPr>
        <p:spPr>
          <a:xfrm>
            <a:off x="864037" y="2325172"/>
            <a:ext cx="5486400" cy="685800"/>
          </a:xfrm>
          <a:prstGeom prst="rect">
            <a:avLst/>
          </a:prstGeom>
          <a:noFill/>
          <a:ln/>
        </p:spPr>
        <p:txBody>
          <a:bodyPr wrap="none" lIns="0" tIns="0" rIns="0" bIns="0" rtlCol="0" anchor="t"/>
          <a:lstStyle/>
          <a:p>
            <a:pPr algn="l" indent="0" marL="0">
              <a:lnSpc>
                <a:spcPts val="5400"/>
              </a:lnSpc>
              <a:buNone/>
            </a:pPr>
            <a:r>
              <a:rPr lang="en-US" sz="4300" dirty="0">
                <a:solidFill>
                  <a:srgbClr val="C6BFEE"/>
                </a:solidFill>
                <a:latin typeface="Prompt Medium" pitchFamily="34" charset="0"/>
                <a:ea typeface="Prompt Medium" pitchFamily="34" charset="-122"/>
                <a:cs typeface="Prompt Medium" pitchFamily="34" charset="-120"/>
              </a:rPr>
              <a:t>Phish Slayer </a:t>
            </a:r>
            <a:pPr algn="l" indent="0" marL="0">
              <a:lnSpc>
                <a:spcPts val="5400"/>
              </a:lnSpc>
              <a:buNone/>
            </a:pPr>
            <a:r>
              <a:rPr lang="en-US" sz="4300" dirty="0">
                <a:solidFill>
                  <a:srgbClr val="000000"/>
                </a:solidFill>
                <a:latin typeface="Prompt Medium" pitchFamily="34" charset="0"/>
                <a:ea typeface="Prompt Medium" pitchFamily="34" charset="-122"/>
                <a:cs typeface="Prompt Medium" pitchFamily="34" charset="-120"/>
              </a:rPr>
              <a:t>⚔️</a:t>
            </a:r>
            <a:endParaRPr lang="en-US" sz="4300" dirty="0"/>
          </a:p>
        </p:txBody>
      </p:sp>
      <p:sp>
        <p:nvSpPr>
          <p:cNvPr id="5" name="Text 2"/>
          <p:cNvSpPr/>
          <p:nvPr/>
        </p:nvSpPr>
        <p:spPr>
          <a:xfrm>
            <a:off x="864037" y="3381256"/>
            <a:ext cx="7415927" cy="1975247"/>
          </a:xfrm>
          <a:prstGeom prst="rect">
            <a:avLst/>
          </a:prstGeom>
          <a:noFill/>
          <a:ln/>
        </p:spPr>
        <p:txBody>
          <a:bodyPr wrap="square" lIns="0" tIns="0" rIns="0" bIns="0" rtlCol="0" anchor="t"/>
          <a:lstStyle/>
          <a:p>
            <a:pPr algn="l" indent="0" marL="0">
              <a:lnSpc>
                <a:spcPts val="3100"/>
              </a:lnSpc>
              <a:buNone/>
            </a:pPr>
            <a:r>
              <a:rPr lang="en-US" sz="1900" dirty="0">
                <a:solidFill>
                  <a:srgbClr val="DAD8E9"/>
                </a:solidFill>
                <a:latin typeface="Mukta Light" pitchFamily="34" charset="0"/>
                <a:ea typeface="Mukta Light" pitchFamily="34" charset="-122"/>
                <a:cs typeface="Mukta Light" pitchFamily="34" charset="-120"/>
              </a:rPr>
              <a:t>This presentation will explore a C++ project designed to raise awareness about phishing attacks and equip users with the tools to identify suspicious URLs. This project aims to empower individuals with knowledge and technology to navigate the online landscape with greater safety.</a:t>
            </a:r>
            <a:endParaRPr lang="en-US" sz="1900" dirty="0"/>
          </a:p>
        </p:txBody>
      </p:sp>
      <p:sp>
        <p:nvSpPr>
          <p:cNvPr id="6" name="Text 3"/>
          <p:cNvSpPr/>
          <p:nvPr/>
        </p:nvSpPr>
        <p:spPr>
          <a:xfrm>
            <a:off x="864037" y="5634157"/>
            <a:ext cx="7415927" cy="395049"/>
          </a:xfrm>
          <a:prstGeom prst="rect">
            <a:avLst/>
          </a:prstGeom>
          <a:noFill/>
          <a:ln/>
        </p:spPr>
        <p:txBody>
          <a:bodyPr wrap="none" lIns="0" tIns="0" rIns="0" bIns="0" rtlCol="0" anchor="t"/>
          <a:lstStyle/>
          <a:p>
            <a:pPr algn="l" indent="0" marL="0">
              <a:lnSpc>
                <a:spcPts val="3100"/>
              </a:lnSpc>
              <a:buNone/>
            </a:pPr>
            <a:endParaRPr lang="en-US" sz="1900" dirty="0"/>
          </a:p>
        </p:txBody>
      </p:sp>
      <p:sp>
        <p:nvSpPr>
          <p:cNvPr id="7" name="Text 4"/>
          <p:cNvSpPr/>
          <p:nvPr/>
        </p:nvSpPr>
        <p:spPr>
          <a:xfrm>
            <a:off x="864037" y="6306860"/>
            <a:ext cx="7415927" cy="395049"/>
          </a:xfrm>
          <a:prstGeom prst="rect">
            <a:avLst/>
          </a:prstGeom>
          <a:noFill/>
          <a:ln/>
        </p:spPr>
        <p:txBody>
          <a:bodyPr wrap="none" lIns="0" tIns="0" rIns="0" bIns="0" rtlCol="0" anchor="t"/>
          <a:lstStyle/>
          <a:p>
            <a:pPr algn="l" indent="0" marL="0">
              <a:lnSpc>
                <a:spcPts val="3100"/>
              </a:lnSpc>
              <a:buNone/>
            </a:pPr>
            <a:endParaRPr lang="en-US" sz="1900" dirty="0"/>
          </a:p>
        </p:txBody>
      </p:sp>
      <p:sp>
        <p:nvSpPr>
          <p:cNvPr id="8" name="Text 5"/>
          <p:cNvSpPr/>
          <p:nvPr/>
        </p:nvSpPr>
        <p:spPr>
          <a:xfrm>
            <a:off x="864037" y="6979563"/>
            <a:ext cx="7415927" cy="395049"/>
          </a:xfrm>
          <a:prstGeom prst="rect">
            <a:avLst/>
          </a:prstGeom>
          <a:noFill/>
          <a:ln/>
        </p:spPr>
        <p:txBody>
          <a:bodyPr wrap="none" lIns="0" tIns="0" rIns="0" bIns="0" rtlCol="0" anchor="t"/>
          <a:lstStyle/>
          <a:p>
            <a:pPr algn="l" indent="0" marL="0">
              <a:lnSpc>
                <a:spcPts val="3100"/>
              </a:lnSpc>
              <a:buNone/>
            </a:pPr>
            <a:endParaRPr lang="en-US" sz="1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64037" y="2069782"/>
            <a:ext cx="9423559" cy="685800"/>
          </a:xfrm>
          <a:prstGeom prst="rect">
            <a:avLst/>
          </a:prstGeom>
          <a:noFill/>
          <a:ln/>
        </p:spPr>
        <p:txBody>
          <a:bodyPr wrap="none" lIns="0" tIns="0" rIns="0" bIns="0" rtlCol="0" anchor="t"/>
          <a:lstStyle/>
          <a:p>
            <a:pPr algn="l" indent="0" marL="0">
              <a:lnSpc>
                <a:spcPts val="5400"/>
              </a:lnSpc>
              <a:buNone/>
            </a:pPr>
            <a:r>
              <a:rPr lang="en-US" sz="4300" dirty="0">
                <a:solidFill>
                  <a:srgbClr val="C6BFEE"/>
                </a:solidFill>
                <a:latin typeface="Prompt Medium" pitchFamily="34" charset="0"/>
                <a:ea typeface="Prompt Medium" pitchFamily="34" charset="-122"/>
                <a:cs typeface="Prompt Medium" pitchFamily="34" charset="-120"/>
              </a:rPr>
              <a:t>Understanding the Phishing Threat</a:t>
            </a:r>
            <a:endParaRPr lang="en-US" sz="4300" dirty="0"/>
          </a:p>
        </p:txBody>
      </p:sp>
      <p:sp>
        <p:nvSpPr>
          <p:cNvPr id="3" name="Text 1"/>
          <p:cNvSpPr/>
          <p:nvPr/>
        </p:nvSpPr>
        <p:spPr>
          <a:xfrm>
            <a:off x="864037" y="3372683"/>
            <a:ext cx="2743200" cy="342900"/>
          </a:xfrm>
          <a:prstGeom prst="rect">
            <a:avLst/>
          </a:prstGeom>
          <a:noFill/>
          <a:ln/>
        </p:spPr>
        <p:txBody>
          <a:bodyPr wrap="none" lIns="0" tIns="0" rIns="0" bIns="0" rtlCol="0" anchor="t"/>
          <a:lstStyle/>
          <a:p>
            <a:pPr algn="l" indent="0" marL="0">
              <a:lnSpc>
                <a:spcPts val="2700"/>
              </a:lnSpc>
              <a:buNone/>
            </a:pPr>
            <a:r>
              <a:rPr lang="en-US" sz="2150" dirty="0">
                <a:solidFill>
                  <a:srgbClr val="C6BFEE"/>
                </a:solidFill>
                <a:latin typeface="Prompt Medium" pitchFamily="34" charset="0"/>
                <a:ea typeface="Prompt Medium" pitchFamily="34" charset="-122"/>
                <a:cs typeface="Prompt Medium" pitchFamily="34" charset="-120"/>
              </a:rPr>
              <a:t>What is Phishing?</a:t>
            </a:r>
            <a:endParaRPr lang="en-US" sz="2150" dirty="0"/>
          </a:p>
        </p:txBody>
      </p:sp>
      <p:sp>
        <p:nvSpPr>
          <p:cNvPr id="4" name="Text 2"/>
          <p:cNvSpPr/>
          <p:nvPr/>
        </p:nvSpPr>
        <p:spPr>
          <a:xfrm>
            <a:off x="864037" y="3962400"/>
            <a:ext cx="6150054" cy="1975247"/>
          </a:xfrm>
          <a:prstGeom prst="rect">
            <a:avLst/>
          </a:prstGeom>
          <a:noFill/>
          <a:ln/>
        </p:spPr>
        <p:txBody>
          <a:bodyPr wrap="square" lIns="0" tIns="0" rIns="0" bIns="0" rtlCol="0" anchor="t"/>
          <a:lstStyle/>
          <a:p>
            <a:pPr algn="l" indent="0" marL="0">
              <a:lnSpc>
                <a:spcPts val="3100"/>
              </a:lnSpc>
              <a:buNone/>
            </a:pPr>
            <a:r>
              <a:rPr lang="en-US" sz="1900" dirty="0">
                <a:solidFill>
                  <a:srgbClr val="DAD8E9"/>
                </a:solidFill>
                <a:latin typeface="Mukta Light" pitchFamily="34" charset="0"/>
                <a:ea typeface="Mukta Light" pitchFamily="34" charset="-122"/>
                <a:cs typeface="Mukta Light" pitchFamily="34" charset="-120"/>
              </a:rPr>
              <a:t>Phishing attacks are malicious attempts by hackers to trick users into clicking fake links or providing sensitive information. They often impersonate legitimate entities, such as banks, social media platforms, or government agencies.</a:t>
            </a:r>
            <a:endParaRPr lang="en-US" sz="1900" dirty="0"/>
          </a:p>
        </p:txBody>
      </p:sp>
      <p:sp>
        <p:nvSpPr>
          <p:cNvPr id="5" name="Text 3"/>
          <p:cNvSpPr/>
          <p:nvPr/>
        </p:nvSpPr>
        <p:spPr>
          <a:xfrm>
            <a:off x="7623929" y="3372683"/>
            <a:ext cx="3297674" cy="342900"/>
          </a:xfrm>
          <a:prstGeom prst="rect">
            <a:avLst/>
          </a:prstGeom>
          <a:noFill/>
          <a:ln/>
        </p:spPr>
        <p:txBody>
          <a:bodyPr wrap="none" lIns="0" tIns="0" rIns="0" bIns="0" rtlCol="0" anchor="t"/>
          <a:lstStyle/>
          <a:p>
            <a:pPr algn="l" indent="0" marL="0">
              <a:lnSpc>
                <a:spcPts val="2700"/>
              </a:lnSpc>
              <a:buNone/>
            </a:pPr>
            <a:r>
              <a:rPr lang="en-US" sz="2150" dirty="0">
                <a:solidFill>
                  <a:srgbClr val="C6BFEE"/>
                </a:solidFill>
                <a:latin typeface="Prompt Medium" pitchFamily="34" charset="0"/>
                <a:ea typeface="Prompt Medium" pitchFamily="34" charset="-122"/>
                <a:cs typeface="Prompt Medium" pitchFamily="34" charset="-120"/>
              </a:rPr>
              <a:t>The Dangers of Phishing</a:t>
            </a:r>
            <a:endParaRPr lang="en-US" sz="2150" dirty="0"/>
          </a:p>
        </p:txBody>
      </p:sp>
      <p:sp>
        <p:nvSpPr>
          <p:cNvPr id="6" name="Text 4"/>
          <p:cNvSpPr/>
          <p:nvPr/>
        </p:nvSpPr>
        <p:spPr>
          <a:xfrm>
            <a:off x="7623929" y="3962400"/>
            <a:ext cx="6150054" cy="1975247"/>
          </a:xfrm>
          <a:prstGeom prst="rect">
            <a:avLst/>
          </a:prstGeom>
          <a:noFill/>
          <a:ln/>
        </p:spPr>
        <p:txBody>
          <a:bodyPr wrap="square" lIns="0" tIns="0" rIns="0" bIns="0" rtlCol="0" anchor="t"/>
          <a:lstStyle/>
          <a:p>
            <a:pPr algn="l" indent="0" marL="0">
              <a:lnSpc>
                <a:spcPts val="3100"/>
              </a:lnSpc>
              <a:buNone/>
            </a:pPr>
            <a:r>
              <a:rPr lang="en-US" sz="1900" dirty="0">
                <a:solidFill>
                  <a:srgbClr val="DAD8E9"/>
                </a:solidFill>
                <a:latin typeface="Mukta Light" pitchFamily="34" charset="0"/>
                <a:ea typeface="Mukta Light" pitchFamily="34" charset="-122"/>
                <a:cs typeface="Mukta Light" pitchFamily="34" charset="-120"/>
              </a:rPr>
              <a:t>Phishing attacks can lead to significant consequences, including data theft, financial loss, identity fraud, and even malware infections. Hackers can gain access to personal information like passwords, credit card details, and bank account credentials.</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864037" y="1872258"/>
            <a:ext cx="10509290" cy="685800"/>
          </a:xfrm>
          <a:prstGeom prst="rect">
            <a:avLst/>
          </a:prstGeom>
          <a:noFill/>
          <a:ln/>
        </p:spPr>
        <p:txBody>
          <a:bodyPr wrap="none" lIns="0" tIns="0" rIns="0" bIns="0" rtlCol="0" anchor="t"/>
          <a:lstStyle/>
          <a:p>
            <a:pPr algn="l" indent="0" marL="0">
              <a:lnSpc>
                <a:spcPts val="5400"/>
              </a:lnSpc>
              <a:buNone/>
            </a:pPr>
            <a:r>
              <a:rPr lang="en-US" sz="4300" dirty="0">
                <a:solidFill>
                  <a:srgbClr val="C6BFEE"/>
                </a:solidFill>
                <a:latin typeface="Prompt Medium" pitchFamily="34" charset="0"/>
                <a:ea typeface="Prompt Medium" pitchFamily="34" charset="-122"/>
                <a:cs typeface="Prompt Medium" pitchFamily="34" charset="-120"/>
              </a:rPr>
              <a:t>Introducing our Phishing Link Detector</a:t>
            </a:r>
            <a:endParaRPr lang="en-US" sz="4300" dirty="0"/>
          </a:p>
        </p:txBody>
      </p:sp>
      <p:sp>
        <p:nvSpPr>
          <p:cNvPr id="3" name="Text 1"/>
          <p:cNvSpPr/>
          <p:nvPr/>
        </p:nvSpPr>
        <p:spPr>
          <a:xfrm>
            <a:off x="864037" y="3175159"/>
            <a:ext cx="2743200" cy="342900"/>
          </a:xfrm>
          <a:prstGeom prst="rect">
            <a:avLst/>
          </a:prstGeom>
          <a:noFill/>
          <a:ln/>
        </p:spPr>
        <p:txBody>
          <a:bodyPr wrap="none" lIns="0" tIns="0" rIns="0" bIns="0" rtlCol="0" anchor="t"/>
          <a:lstStyle/>
          <a:p>
            <a:pPr algn="l" indent="0" marL="0">
              <a:lnSpc>
                <a:spcPts val="2700"/>
              </a:lnSpc>
              <a:buNone/>
            </a:pPr>
            <a:r>
              <a:rPr lang="en-US" sz="2150" dirty="0">
                <a:solidFill>
                  <a:srgbClr val="C6BFEE"/>
                </a:solidFill>
                <a:latin typeface="Prompt Medium" pitchFamily="34" charset="0"/>
                <a:ea typeface="Prompt Medium" pitchFamily="34" charset="-122"/>
                <a:cs typeface="Prompt Medium" pitchFamily="34" charset="-120"/>
              </a:rPr>
              <a:t>Input</a:t>
            </a:r>
            <a:endParaRPr lang="en-US" sz="2150" dirty="0"/>
          </a:p>
        </p:txBody>
      </p:sp>
      <p:sp>
        <p:nvSpPr>
          <p:cNvPr id="4" name="Text 2"/>
          <p:cNvSpPr/>
          <p:nvPr/>
        </p:nvSpPr>
        <p:spPr>
          <a:xfrm>
            <a:off x="864037" y="3764875"/>
            <a:ext cx="3898821" cy="1185148"/>
          </a:xfrm>
          <a:prstGeom prst="rect">
            <a:avLst/>
          </a:prstGeom>
          <a:noFill/>
          <a:ln/>
        </p:spPr>
        <p:txBody>
          <a:bodyPr wrap="square" lIns="0" tIns="0" rIns="0" bIns="0" rtlCol="0" anchor="t"/>
          <a:lstStyle/>
          <a:p>
            <a:pPr algn="l" indent="0" marL="0">
              <a:lnSpc>
                <a:spcPts val="3100"/>
              </a:lnSpc>
              <a:buNone/>
            </a:pPr>
            <a:r>
              <a:rPr lang="en-US" sz="1900" dirty="0">
                <a:solidFill>
                  <a:srgbClr val="DAD8E9"/>
                </a:solidFill>
                <a:latin typeface="Mukta Light" pitchFamily="34" charset="0"/>
                <a:ea typeface="Mukta Light" pitchFamily="34" charset="-122"/>
                <a:cs typeface="Mukta Light" pitchFamily="34" charset="-120"/>
              </a:rPr>
              <a:t>Our detector takes a URL as input from the user, allowing them to check the safety of any link they encounter.</a:t>
            </a:r>
            <a:endParaRPr lang="en-US" sz="1900" dirty="0"/>
          </a:p>
        </p:txBody>
      </p:sp>
      <p:sp>
        <p:nvSpPr>
          <p:cNvPr id="5" name="Text 3"/>
          <p:cNvSpPr/>
          <p:nvPr/>
        </p:nvSpPr>
        <p:spPr>
          <a:xfrm>
            <a:off x="5372695" y="3175159"/>
            <a:ext cx="2743200" cy="342900"/>
          </a:xfrm>
          <a:prstGeom prst="rect">
            <a:avLst/>
          </a:prstGeom>
          <a:noFill/>
          <a:ln/>
        </p:spPr>
        <p:txBody>
          <a:bodyPr wrap="none" lIns="0" tIns="0" rIns="0" bIns="0" rtlCol="0" anchor="t"/>
          <a:lstStyle/>
          <a:p>
            <a:pPr algn="l" indent="0" marL="0">
              <a:lnSpc>
                <a:spcPts val="2700"/>
              </a:lnSpc>
              <a:buNone/>
            </a:pPr>
            <a:r>
              <a:rPr lang="en-US" sz="2150" dirty="0">
                <a:solidFill>
                  <a:srgbClr val="C6BFEE"/>
                </a:solidFill>
                <a:latin typeface="Prompt Medium" pitchFamily="34" charset="0"/>
                <a:ea typeface="Prompt Medium" pitchFamily="34" charset="-122"/>
                <a:cs typeface="Prompt Medium" pitchFamily="34" charset="-120"/>
              </a:rPr>
              <a:t>Analysis</a:t>
            </a:r>
            <a:endParaRPr lang="en-US" sz="2150" dirty="0"/>
          </a:p>
        </p:txBody>
      </p:sp>
      <p:sp>
        <p:nvSpPr>
          <p:cNvPr id="6" name="Text 4"/>
          <p:cNvSpPr/>
          <p:nvPr/>
        </p:nvSpPr>
        <p:spPr>
          <a:xfrm>
            <a:off x="5372695" y="3764875"/>
            <a:ext cx="3898821" cy="1185148"/>
          </a:xfrm>
          <a:prstGeom prst="rect">
            <a:avLst/>
          </a:prstGeom>
          <a:noFill/>
          <a:ln/>
        </p:spPr>
        <p:txBody>
          <a:bodyPr wrap="square" lIns="0" tIns="0" rIns="0" bIns="0" rtlCol="0" anchor="t"/>
          <a:lstStyle/>
          <a:p>
            <a:pPr algn="l" indent="0" marL="0">
              <a:lnSpc>
                <a:spcPts val="3100"/>
              </a:lnSpc>
              <a:buNone/>
            </a:pPr>
            <a:r>
              <a:rPr lang="en-US" sz="1900" dirty="0">
                <a:solidFill>
                  <a:srgbClr val="DAD8E9"/>
                </a:solidFill>
                <a:latin typeface="Mukta Light" pitchFamily="34" charset="0"/>
                <a:ea typeface="Mukta Light" pitchFamily="34" charset="-122"/>
                <a:cs typeface="Mukta Light" pitchFamily="34" charset="-120"/>
              </a:rPr>
              <a:t>The program analyzes the URL for various phishing indicators using a series of predefined rules and checks.</a:t>
            </a:r>
            <a:endParaRPr lang="en-US" sz="1900" dirty="0"/>
          </a:p>
        </p:txBody>
      </p:sp>
      <p:sp>
        <p:nvSpPr>
          <p:cNvPr id="7" name="Text 5"/>
          <p:cNvSpPr/>
          <p:nvPr/>
        </p:nvSpPr>
        <p:spPr>
          <a:xfrm>
            <a:off x="9881354" y="3175159"/>
            <a:ext cx="2743200" cy="342900"/>
          </a:xfrm>
          <a:prstGeom prst="rect">
            <a:avLst/>
          </a:prstGeom>
          <a:noFill/>
          <a:ln/>
        </p:spPr>
        <p:txBody>
          <a:bodyPr wrap="none" lIns="0" tIns="0" rIns="0" bIns="0" rtlCol="0" anchor="t"/>
          <a:lstStyle/>
          <a:p>
            <a:pPr algn="l" indent="0" marL="0">
              <a:lnSpc>
                <a:spcPts val="2700"/>
              </a:lnSpc>
              <a:buNone/>
            </a:pPr>
            <a:r>
              <a:rPr lang="en-US" sz="2150" dirty="0">
                <a:solidFill>
                  <a:srgbClr val="C6BFEE"/>
                </a:solidFill>
                <a:latin typeface="Prompt Medium" pitchFamily="34" charset="0"/>
                <a:ea typeface="Prompt Medium" pitchFamily="34" charset="-122"/>
                <a:cs typeface="Prompt Medium" pitchFamily="34" charset="-120"/>
              </a:rPr>
              <a:t>Output</a:t>
            </a:r>
            <a:endParaRPr lang="en-US" sz="2150" dirty="0"/>
          </a:p>
        </p:txBody>
      </p:sp>
      <p:sp>
        <p:nvSpPr>
          <p:cNvPr id="8" name="Text 6"/>
          <p:cNvSpPr/>
          <p:nvPr/>
        </p:nvSpPr>
        <p:spPr>
          <a:xfrm>
            <a:off x="9881354" y="3764875"/>
            <a:ext cx="3898821" cy="2370296"/>
          </a:xfrm>
          <a:prstGeom prst="rect">
            <a:avLst/>
          </a:prstGeom>
          <a:noFill/>
          <a:ln/>
        </p:spPr>
        <p:txBody>
          <a:bodyPr wrap="square" lIns="0" tIns="0" rIns="0" bIns="0" rtlCol="0" anchor="t"/>
          <a:lstStyle/>
          <a:p>
            <a:pPr algn="l" indent="0" marL="0">
              <a:lnSpc>
                <a:spcPts val="3100"/>
              </a:lnSpc>
              <a:buNone/>
            </a:pPr>
            <a:r>
              <a:rPr lang="en-US" sz="1900" dirty="0">
                <a:solidFill>
                  <a:srgbClr val="DAD8E9"/>
                </a:solidFill>
                <a:latin typeface="Mukta Light" pitchFamily="34" charset="0"/>
                <a:ea typeface="Mukta Light" pitchFamily="34" charset="-122"/>
                <a:cs typeface="Mukta Light" pitchFamily="34" charset="-120"/>
              </a:rPr>
              <a:t>The detector provides a risk score ranging from 0 to 10, indicating the likelihood of the URL being a phishing attempt. It also displays a warning message if the URL is deemed dangerous.</a:t>
            </a:r>
            <a:endParaRPr lang="en-US" sz="1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849868" y="680918"/>
            <a:ext cx="7837527" cy="674489"/>
          </a:xfrm>
          <a:prstGeom prst="rect">
            <a:avLst/>
          </a:prstGeom>
          <a:noFill/>
          <a:ln/>
        </p:spPr>
        <p:txBody>
          <a:bodyPr wrap="none" lIns="0" tIns="0" rIns="0" bIns="0" rtlCol="0" anchor="t"/>
          <a:lstStyle/>
          <a:p>
            <a:pPr algn="l" indent="0" marL="0">
              <a:lnSpc>
                <a:spcPts val="5300"/>
              </a:lnSpc>
              <a:buNone/>
            </a:pPr>
            <a:r>
              <a:rPr lang="en-US" sz="4200" dirty="0">
                <a:solidFill>
                  <a:srgbClr val="C6BFEE"/>
                </a:solidFill>
                <a:latin typeface="Prompt Medium" pitchFamily="34" charset="0"/>
                <a:ea typeface="Prompt Medium" pitchFamily="34" charset="-122"/>
                <a:cs typeface="Prompt Medium" pitchFamily="34" charset="-120"/>
              </a:rPr>
              <a:t>Key Features of Our Detector</a:t>
            </a:r>
            <a:endParaRPr lang="en-US" sz="4200" dirty="0"/>
          </a:p>
        </p:txBody>
      </p:sp>
      <p:sp>
        <p:nvSpPr>
          <p:cNvPr id="3" name="Shape 1"/>
          <p:cNvSpPr/>
          <p:nvPr/>
        </p:nvSpPr>
        <p:spPr>
          <a:xfrm>
            <a:off x="849868" y="1841063"/>
            <a:ext cx="4148376" cy="3315295"/>
          </a:xfrm>
          <a:prstGeom prst="roundRect">
            <a:avLst>
              <a:gd name="adj" fmla="val 3076"/>
            </a:avLst>
          </a:prstGeom>
          <a:solidFill>
            <a:srgbClr val="542C49"/>
          </a:solidFill>
          <a:ln w="7620">
            <a:solidFill>
              <a:srgbClr val="6D4562"/>
            </a:solidFill>
            <a:prstDash val="solid"/>
          </a:ln>
        </p:spPr>
      </p:sp>
      <p:sp>
        <p:nvSpPr>
          <p:cNvPr id="4" name="Text 2"/>
          <p:cNvSpPr/>
          <p:nvPr/>
        </p:nvSpPr>
        <p:spPr>
          <a:xfrm>
            <a:off x="1100257" y="2091452"/>
            <a:ext cx="2698194" cy="337185"/>
          </a:xfrm>
          <a:prstGeom prst="rect">
            <a:avLst/>
          </a:prstGeom>
          <a:noFill/>
          <a:ln/>
        </p:spPr>
        <p:txBody>
          <a:bodyPr wrap="none" lIns="0" tIns="0" rIns="0" bIns="0" rtlCol="0" anchor="t"/>
          <a:lstStyle/>
          <a:p>
            <a:pPr algn="l" indent="0" marL="0">
              <a:lnSpc>
                <a:spcPts val="2650"/>
              </a:lnSpc>
              <a:buNone/>
            </a:pPr>
            <a:r>
              <a:rPr lang="en-US" sz="2100" dirty="0">
                <a:solidFill>
                  <a:srgbClr val="DAD8E9"/>
                </a:solidFill>
                <a:latin typeface="Prompt Medium" pitchFamily="34" charset="0"/>
                <a:ea typeface="Prompt Medium" pitchFamily="34" charset="-122"/>
                <a:cs typeface="Prompt Medium" pitchFamily="34" charset="-120"/>
              </a:rPr>
              <a:t>Phishing Domains</a:t>
            </a:r>
            <a:endParaRPr lang="en-US" sz="2100" dirty="0"/>
          </a:p>
        </p:txBody>
      </p:sp>
      <p:sp>
        <p:nvSpPr>
          <p:cNvPr id="5" name="Text 3"/>
          <p:cNvSpPr/>
          <p:nvPr/>
        </p:nvSpPr>
        <p:spPr>
          <a:xfrm>
            <a:off x="1100257" y="2574250"/>
            <a:ext cx="3647599" cy="1943100"/>
          </a:xfrm>
          <a:prstGeom prst="rect">
            <a:avLst/>
          </a:prstGeom>
          <a:noFill/>
          <a:ln/>
        </p:spPr>
        <p:txBody>
          <a:bodyPr wrap="square" lIns="0" tIns="0" rIns="0" bIns="0" rtlCol="0" anchor="t"/>
          <a:lstStyle/>
          <a:p>
            <a:pPr algn="l" indent="0" marL="0">
              <a:lnSpc>
                <a:spcPts val="3050"/>
              </a:lnSpc>
              <a:buNone/>
            </a:pPr>
            <a:r>
              <a:rPr lang="en-US" sz="1900" dirty="0">
                <a:solidFill>
                  <a:srgbClr val="DAD8E9"/>
                </a:solidFill>
                <a:latin typeface="Mukta Light" pitchFamily="34" charset="0"/>
                <a:ea typeface="Mukta Light" pitchFamily="34" charset="-122"/>
                <a:cs typeface="Mukta Light" pitchFamily="34" charset="-120"/>
              </a:rPr>
              <a:t>Our detector identifies suspicious domain extensions like .xyz, .tk, and other less commonly used domains, which are often associated with phishing attempts.</a:t>
            </a:r>
            <a:endParaRPr lang="en-US" sz="1900" dirty="0"/>
          </a:p>
        </p:txBody>
      </p:sp>
      <p:sp>
        <p:nvSpPr>
          <p:cNvPr id="6" name="Shape 4"/>
          <p:cNvSpPr/>
          <p:nvPr/>
        </p:nvSpPr>
        <p:spPr>
          <a:xfrm>
            <a:off x="5241012" y="1841063"/>
            <a:ext cx="4148376" cy="3315295"/>
          </a:xfrm>
          <a:prstGeom prst="roundRect">
            <a:avLst>
              <a:gd name="adj" fmla="val 3076"/>
            </a:avLst>
          </a:prstGeom>
          <a:solidFill>
            <a:srgbClr val="542C49"/>
          </a:solidFill>
          <a:ln w="7620">
            <a:solidFill>
              <a:srgbClr val="6D4562"/>
            </a:solidFill>
            <a:prstDash val="solid"/>
          </a:ln>
        </p:spPr>
      </p:sp>
      <p:sp>
        <p:nvSpPr>
          <p:cNvPr id="7" name="Text 5"/>
          <p:cNvSpPr/>
          <p:nvPr/>
        </p:nvSpPr>
        <p:spPr>
          <a:xfrm>
            <a:off x="5491401" y="2091452"/>
            <a:ext cx="2698194" cy="337185"/>
          </a:xfrm>
          <a:prstGeom prst="rect">
            <a:avLst/>
          </a:prstGeom>
          <a:noFill/>
          <a:ln/>
        </p:spPr>
        <p:txBody>
          <a:bodyPr wrap="none" lIns="0" tIns="0" rIns="0" bIns="0" rtlCol="0" anchor="t"/>
          <a:lstStyle/>
          <a:p>
            <a:pPr algn="l" indent="0" marL="0">
              <a:lnSpc>
                <a:spcPts val="2650"/>
              </a:lnSpc>
              <a:buNone/>
            </a:pPr>
            <a:r>
              <a:rPr lang="en-US" sz="2100" dirty="0">
                <a:solidFill>
                  <a:srgbClr val="DAD8E9"/>
                </a:solidFill>
                <a:latin typeface="Prompt Medium" pitchFamily="34" charset="0"/>
                <a:ea typeface="Prompt Medium" pitchFamily="34" charset="-122"/>
                <a:cs typeface="Prompt Medium" pitchFamily="34" charset="-120"/>
              </a:rPr>
              <a:t>Suspicious Words</a:t>
            </a:r>
            <a:endParaRPr lang="en-US" sz="2100" dirty="0"/>
          </a:p>
        </p:txBody>
      </p:sp>
      <p:sp>
        <p:nvSpPr>
          <p:cNvPr id="8" name="Text 6"/>
          <p:cNvSpPr/>
          <p:nvPr/>
        </p:nvSpPr>
        <p:spPr>
          <a:xfrm>
            <a:off x="5491401" y="2574250"/>
            <a:ext cx="3647599" cy="1943100"/>
          </a:xfrm>
          <a:prstGeom prst="rect">
            <a:avLst/>
          </a:prstGeom>
          <a:noFill/>
          <a:ln/>
        </p:spPr>
        <p:txBody>
          <a:bodyPr wrap="square" lIns="0" tIns="0" rIns="0" bIns="0" rtlCol="0" anchor="t"/>
          <a:lstStyle/>
          <a:p>
            <a:pPr algn="l" indent="0" marL="0">
              <a:lnSpc>
                <a:spcPts val="3050"/>
              </a:lnSpc>
              <a:buNone/>
            </a:pPr>
            <a:r>
              <a:rPr lang="en-US" sz="1900" dirty="0">
                <a:solidFill>
                  <a:srgbClr val="DAD8E9"/>
                </a:solidFill>
                <a:latin typeface="Mukta Light" pitchFamily="34" charset="0"/>
                <a:ea typeface="Mukta Light" pitchFamily="34" charset="-122"/>
                <a:cs typeface="Mukta Light" pitchFamily="34" charset="-120"/>
              </a:rPr>
              <a:t>The program checks for misspelled brand names or unusual characters in the URL, such as g00gle or pay-pal, to indicate a potential phishing attempt.</a:t>
            </a:r>
            <a:endParaRPr lang="en-US" sz="1900" dirty="0"/>
          </a:p>
        </p:txBody>
      </p:sp>
      <p:sp>
        <p:nvSpPr>
          <p:cNvPr id="9" name="Shape 7"/>
          <p:cNvSpPr/>
          <p:nvPr/>
        </p:nvSpPr>
        <p:spPr>
          <a:xfrm>
            <a:off x="9632156" y="1841063"/>
            <a:ext cx="4148376" cy="3315295"/>
          </a:xfrm>
          <a:prstGeom prst="roundRect">
            <a:avLst>
              <a:gd name="adj" fmla="val 3076"/>
            </a:avLst>
          </a:prstGeom>
          <a:solidFill>
            <a:srgbClr val="542C49"/>
          </a:solidFill>
          <a:ln w="7620">
            <a:solidFill>
              <a:srgbClr val="6D4562"/>
            </a:solidFill>
            <a:prstDash val="solid"/>
          </a:ln>
        </p:spPr>
      </p:sp>
      <p:sp>
        <p:nvSpPr>
          <p:cNvPr id="10" name="Text 8"/>
          <p:cNvSpPr/>
          <p:nvPr/>
        </p:nvSpPr>
        <p:spPr>
          <a:xfrm>
            <a:off x="9882545" y="2091452"/>
            <a:ext cx="2698194" cy="337185"/>
          </a:xfrm>
          <a:prstGeom prst="rect">
            <a:avLst/>
          </a:prstGeom>
          <a:noFill/>
          <a:ln/>
        </p:spPr>
        <p:txBody>
          <a:bodyPr wrap="none" lIns="0" tIns="0" rIns="0" bIns="0" rtlCol="0" anchor="t"/>
          <a:lstStyle/>
          <a:p>
            <a:pPr algn="l" indent="0" marL="0">
              <a:lnSpc>
                <a:spcPts val="2650"/>
              </a:lnSpc>
              <a:buNone/>
            </a:pPr>
            <a:r>
              <a:rPr lang="en-US" sz="2100" dirty="0">
                <a:solidFill>
                  <a:srgbClr val="DAD8E9"/>
                </a:solidFill>
                <a:latin typeface="Prompt Medium" pitchFamily="34" charset="0"/>
                <a:ea typeface="Prompt Medium" pitchFamily="34" charset="-122"/>
                <a:cs typeface="Prompt Medium" pitchFamily="34" charset="-120"/>
              </a:rPr>
              <a:t>Excessive Symbols</a:t>
            </a:r>
            <a:endParaRPr lang="en-US" sz="2100" dirty="0"/>
          </a:p>
        </p:txBody>
      </p:sp>
      <p:sp>
        <p:nvSpPr>
          <p:cNvPr id="11" name="Text 9"/>
          <p:cNvSpPr/>
          <p:nvPr/>
        </p:nvSpPr>
        <p:spPr>
          <a:xfrm>
            <a:off x="9882545" y="2574250"/>
            <a:ext cx="3647599" cy="2331720"/>
          </a:xfrm>
          <a:prstGeom prst="rect">
            <a:avLst/>
          </a:prstGeom>
          <a:noFill/>
          <a:ln/>
        </p:spPr>
        <p:txBody>
          <a:bodyPr wrap="square" lIns="0" tIns="0" rIns="0" bIns="0" rtlCol="0" anchor="t"/>
          <a:lstStyle/>
          <a:p>
            <a:pPr algn="l" indent="0" marL="0">
              <a:lnSpc>
                <a:spcPts val="3050"/>
              </a:lnSpc>
              <a:buNone/>
            </a:pPr>
            <a:r>
              <a:rPr lang="en-US" sz="1900" dirty="0">
                <a:solidFill>
                  <a:srgbClr val="DAD8E9"/>
                </a:solidFill>
                <a:latin typeface="Mukta Light" pitchFamily="34" charset="0"/>
                <a:ea typeface="Mukta Light" pitchFamily="34" charset="-122"/>
                <a:cs typeface="Mukta Light" pitchFamily="34" charset="-120"/>
              </a:rPr>
              <a:t>An abundance of dashes (-) or underscores (_) in the URL can be a red flag, as phishing URLs sometimes use these symbols excessively to disguise the real domain.</a:t>
            </a:r>
            <a:endParaRPr lang="en-US" sz="1900" dirty="0"/>
          </a:p>
        </p:txBody>
      </p:sp>
      <p:sp>
        <p:nvSpPr>
          <p:cNvPr id="12" name="Shape 10"/>
          <p:cNvSpPr/>
          <p:nvPr/>
        </p:nvSpPr>
        <p:spPr>
          <a:xfrm>
            <a:off x="849868" y="5399127"/>
            <a:ext cx="6343888" cy="2149435"/>
          </a:xfrm>
          <a:prstGeom prst="roundRect">
            <a:avLst>
              <a:gd name="adj" fmla="val 4745"/>
            </a:avLst>
          </a:prstGeom>
          <a:solidFill>
            <a:srgbClr val="542C49"/>
          </a:solidFill>
          <a:ln w="7620">
            <a:solidFill>
              <a:srgbClr val="6D4562"/>
            </a:solidFill>
            <a:prstDash val="solid"/>
          </a:ln>
        </p:spPr>
      </p:sp>
      <p:sp>
        <p:nvSpPr>
          <p:cNvPr id="13" name="Text 11"/>
          <p:cNvSpPr/>
          <p:nvPr/>
        </p:nvSpPr>
        <p:spPr>
          <a:xfrm>
            <a:off x="1100257" y="5649516"/>
            <a:ext cx="2698194" cy="337185"/>
          </a:xfrm>
          <a:prstGeom prst="rect">
            <a:avLst/>
          </a:prstGeom>
          <a:noFill/>
          <a:ln/>
        </p:spPr>
        <p:txBody>
          <a:bodyPr wrap="none" lIns="0" tIns="0" rIns="0" bIns="0" rtlCol="0" anchor="t"/>
          <a:lstStyle/>
          <a:p>
            <a:pPr algn="l" indent="0" marL="0">
              <a:lnSpc>
                <a:spcPts val="2650"/>
              </a:lnSpc>
              <a:buNone/>
            </a:pPr>
            <a:r>
              <a:rPr lang="en-US" sz="2100" dirty="0">
                <a:solidFill>
                  <a:srgbClr val="DAD8E9"/>
                </a:solidFill>
                <a:latin typeface="Prompt Medium" pitchFamily="34" charset="0"/>
                <a:ea typeface="Prompt Medium" pitchFamily="34" charset="-122"/>
                <a:cs typeface="Prompt Medium" pitchFamily="34" charset="-120"/>
              </a:rPr>
              <a:t>IP-Based URLs</a:t>
            </a:r>
            <a:endParaRPr lang="en-US" sz="2100" dirty="0"/>
          </a:p>
        </p:txBody>
      </p:sp>
      <p:sp>
        <p:nvSpPr>
          <p:cNvPr id="14" name="Text 12"/>
          <p:cNvSpPr/>
          <p:nvPr/>
        </p:nvSpPr>
        <p:spPr>
          <a:xfrm>
            <a:off x="1100257" y="6132314"/>
            <a:ext cx="5843111" cy="1165860"/>
          </a:xfrm>
          <a:prstGeom prst="rect">
            <a:avLst/>
          </a:prstGeom>
          <a:noFill/>
          <a:ln/>
        </p:spPr>
        <p:txBody>
          <a:bodyPr wrap="square" lIns="0" tIns="0" rIns="0" bIns="0" rtlCol="0" anchor="t"/>
          <a:lstStyle/>
          <a:p>
            <a:pPr algn="l" indent="0" marL="0">
              <a:lnSpc>
                <a:spcPts val="3050"/>
              </a:lnSpc>
              <a:buNone/>
            </a:pPr>
            <a:r>
              <a:rPr lang="en-US" sz="1900" dirty="0">
                <a:solidFill>
                  <a:srgbClr val="DAD8E9"/>
                </a:solidFill>
                <a:latin typeface="Mukta Light" pitchFamily="34" charset="0"/>
                <a:ea typeface="Mukta Light" pitchFamily="34" charset="-122"/>
                <a:cs typeface="Mukta Light" pitchFamily="34" charset="-120"/>
              </a:rPr>
              <a:t>If the URL uses an IP address instead of a domain name, it could be a sign of a phishing attack, as legitimate websites generally use domain names.</a:t>
            </a:r>
            <a:endParaRPr lang="en-US" sz="1900" dirty="0"/>
          </a:p>
        </p:txBody>
      </p:sp>
      <p:sp>
        <p:nvSpPr>
          <p:cNvPr id="15" name="Shape 13"/>
          <p:cNvSpPr/>
          <p:nvPr/>
        </p:nvSpPr>
        <p:spPr>
          <a:xfrm>
            <a:off x="7436525" y="5399127"/>
            <a:ext cx="6344007" cy="2149435"/>
          </a:xfrm>
          <a:prstGeom prst="roundRect">
            <a:avLst>
              <a:gd name="adj" fmla="val 4745"/>
            </a:avLst>
          </a:prstGeom>
          <a:solidFill>
            <a:srgbClr val="542C49"/>
          </a:solidFill>
          <a:ln w="7620">
            <a:solidFill>
              <a:srgbClr val="6D4562"/>
            </a:solidFill>
            <a:prstDash val="solid"/>
          </a:ln>
        </p:spPr>
      </p:sp>
      <p:sp>
        <p:nvSpPr>
          <p:cNvPr id="16" name="Text 14"/>
          <p:cNvSpPr/>
          <p:nvPr/>
        </p:nvSpPr>
        <p:spPr>
          <a:xfrm>
            <a:off x="7686913" y="5649516"/>
            <a:ext cx="2698194" cy="337185"/>
          </a:xfrm>
          <a:prstGeom prst="rect">
            <a:avLst/>
          </a:prstGeom>
          <a:noFill/>
          <a:ln/>
        </p:spPr>
        <p:txBody>
          <a:bodyPr wrap="none" lIns="0" tIns="0" rIns="0" bIns="0" rtlCol="0" anchor="t"/>
          <a:lstStyle/>
          <a:p>
            <a:pPr algn="l" indent="0" marL="0">
              <a:lnSpc>
                <a:spcPts val="2650"/>
              </a:lnSpc>
              <a:buNone/>
            </a:pPr>
            <a:r>
              <a:rPr lang="en-US" sz="2100" dirty="0">
                <a:solidFill>
                  <a:srgbClr val="DAD8E9"/>
                </a:solidFill>
                <a:latin typeface="Prompt Medium" pitchFamily="34" charset="0"/>
                <a:ea typeface="Prompt Medium" pitchFamily="34" charset="-122"/>
                <a:cs typeface="Prompt Medium" pitchFamily="34" charset="-120"/>
              </a:rPr>
              <a:t>@ Symbol</a:t>
            </a:r>
            <a:endParaRPr lang="en-US" sz="2100" dirty="0"/>
          </a:p>
        </p:txBody>
      </p:sp>
      <p:sp>
        <p:nvSpPr>
          <p:cNvPr id="17" name="Text 15"/>
          <p:cNvSpPr/>
          <p:nvPr/>
        </p:nvSpPr>
        <p:spPr>
          <a:xfrm>
            <a:off x="7686913" y="6132314"/>
            <a:ext cx="5843230" cy="777240"/>
          </a:xfrm>
          <a:prstGeom prst="rect">
            <a:avLst/>
          </a:prstGeom>
          <a:noFill/>
          <a:ln/>
        </p:spPr>
        <p:txBody>
          <a:bodyPr wrap="square" lIns="0" tIns="0" rIns="0" bIns="0" rtlCol="0" anchor="t"/>
          <a:lstStyle/>
          <a:p>
            <a:pPr algn="l" indent="0" marL="0">
              <a:lnSpc>
                <a:spcPts val="3050"/>
              </a:lnSpc>
              <a:buNone/>
            </a:pPr>
            <a:r>
              <a:rPr lang="en-US" sz="1900" dirty="0">
                <a:solidFill>
                  <a:srgbClr val="DAD8E9"/>
                </a:solidFill>
                <a:latin typeface="Mukta Light" pitchFamily="34" charset="0"/>
                <a:ea typeface="Mukta Light" pitchFamily="34" charset="-122"/>
                <a:cs typeface="Mukta Light" pitchFamily="34" charset="-120"/>
              </a:rPr>
              <a:t>Phishing URLs may use the @ symbol in the URL to hide the true domain name, making it appear legitimate.</a:t>
            </a:r>
            <a:endParaRPr lang="en-US" sz="1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864037" y="1305758"/>
            <a:ext cx="10764917" cy="685800"/>
          </a:xfrm>
          <a:prstGeom prst="rect">
            <a:avLst/>
          </a:prstGeom>
          <a:noFill/>
          <a:ln/>
        </p:spPr>
        <p:txBody>
          <a:bodyPr wrap="none" lIns="0" tIns="0" rIns="0" bIns="0" rtlCol="0" anchor="t"/>
          <a:lstStyle/>
          <a:p>
            <a:pPr algn="l" indent="0" marL="0">
              <a:lnSpc>
                <a:spcPts val="5400"/>
              </a:lnSpc>
              <a:buNone/>
            </a:pPr>
            <a:r>
              <a:rPr lang="en-US" sz="4300" dirty="0">
                <a:solidFill>
                  <a:srgbClr val="C6BFEE"/>
                </a:solidFill>
                <a:latin typeface="Prompt Medium" pitchFamily="34" charset="0"/>
                <a:ea typeface="Prompt Medium" pitchFamily="34" charset="-122"/>
                <a:cs typeface="Prompt Medium" pitchFamily="34" charset="-120"/>
              </a:rPr>
              <a:t>Code Walkthrough: Function Breakdown</a:t>
            </a:r>
            <a:endParaRPr lang="en-US" sz="4300" dirty="0"/>
          </a:p>
        </p:txBody>
      </p:sp>
      <p:sp>
        <p:nvSpPr>
          <p:cNvPr id="3" name="Text 1"/>
          <p:cNvSpPr/>
          <p:nvPr/>
        </p:nvSpPr>
        <p:spPr>
          <a:xfrm>
            <a:off x="864037" y="2608659"/>
            <a:ext cx="2769275" cy="342900"/>
          </a:xfrm>
          <a:prstGeom prst="rect">
            <a:avLst/>
          </a:prstGeom>
          <a:noFill/>
          <a:ln/>
        </p:spPr>
        <p:txBody>
          <a:bodyPr wrap="none" lIns="0" tIns="0" rIns="0" bIns="0" rtlCol="0" anchor="t"/>
          <a:lstStyle/>
          <a:p>
            <a:pPr algn="l" indent="0" marL="0">
              <a:lnSpc>
                <a:spcPts val="2700"/>
              </a:lnSpc>
              <a:buNone/>
            </a:pPr>
            <a:r>
              <a:rPr lang="en-US" sz="2150" dirty="0">
                <a:solidFill>
                  <a:srgbClr val="C6BFEE"/>
                </a:solidFill>
                <a:latin typeface="Prompt Medium" pitchFamily="34" charset="0"/>
                <a:ea typeface="Prompt Medium" pitchFamily="34" charset="-122"/>
                <a:cs typeface="Prompt Medium" pitchFamily="34" charset="-120"/>
              </a:rPr>
              <a:t>hasPhishingDomain()</a:t>
            </a:r>
            <a:endParaRPr lang="en-US" sz="2150" dirty="0"/>
          </a:p>
        </p:txBody>
      </p:sp>
      <p:sp>
        <p:nvSpPr>
          <p:cNvPr id="4" name="Text 2"/>
          <p:cNvSpPr/>
          <p:nvPr/>
        </p:nvSpPr>
        <p:spPr>
          <a:xfrm>
            <a:off x="864037" y="3198376"/>
            <a:ext cx="2773918" cy="2370296"/>
          </a:xfrm>
          <a:prstGeom prst="rect">
            <a:avLst/>
          </a:prstGeom>
          <a:noFill/>
          <a:ln/>
        </p:spPr>
        <p:txBody>
          <a:bodyPr wrap="square" lIns="0" tIns="0" rIns="0" bIns="0" rtlCol="0" anchor="t"/>
          <a:lstStyle/>
          <a:p>
            <a:pPr algn="l" indent="0" marL="0">
              <a:lnSpc>
                <a:spcPts val="3100"/>
              </a:lnSpc>
              <a:buNone/>
            </a:pPr>
            <a:r>
              <a:rPr lang="en-US" sz="1900" dirty="0">
                <a:solidFill>
                  <a:srgbClr val="DAD8E9"/>
                </a:solidFill>
                <a:latin typeface="Mukta Light" pitchFamily="34" charset="0"/>
                <a:ea typeface="Mukta Light" pitchFamily="34" charset="-122"/>
                <a:cs typeface="Mukta Light" pitchFamily="34" charset="-120"/>
              </a:rPr>
              <a:t>This function checks the domain extension of the URL and flags it as suspicious if it matches a list of predefined phishing domain extensions.</a:t>
            </a:r>
            <a:endParaRPr lang="en-US" sz="1900" dirty="0"/>
          </a:p>
        </p:txBody>
      </p:sp>
      <p:sp>
        <p:nvSpPr>
          <p:cNvPr id="5" name="Text 3"/>
          <p:cNvSpPr/>
          <p:nvPr/>
        </p:nvSpPr>
        <p:spPr>
          <a:xfrm>
            <a:off x="4247793" y="2608659"/>
            <a:ext cx="2773918" cy="685800"/>
          </a:xfrm>
          <a:prstGeom prst="rect">
            <a:avLst/>
          </a:prstGeom>
          <a:noFill/>
          <a:ln/>
        </p:spPr>
        <p:txBody>
          <a:bodyPr wrap="square" lIns="0" tIns="0" rIns="0" bIns="0" rtlCol="0" anchor="t"/>
          <a:lstStyle/>
          <a:p>
            <a:pPr algn="l" indent="0" marL="0">
              <a:lnSpc>
                <a:spcPts val="2700"/>
              </a:lnSpc>
              <a:buNone/>
            </a:pPr>
            <a:r>
              <a:rPr lang="en-US" sz="2150" dirty="0">
                <a:solidFill>
                  <a:srgbClr val="C6BFEE"/>
                </a:solidFill>
                <a:latin typeface="Prompt Medium" pitchFamily="34" charset="0"/>
                <a:ea typeface="Prompt Medium" pitchFamily="34" charset="-122"/>
                <a:cs typeface="Prompt Medium" pitchFamily="34" charset="-120"/>
              </a:rPr>
              <a:t>hasSuspiciousWords()</a:t>
            </a:r>
            <a:endParaRPr lang="en-US" sz="2150" dirty="0"/>
          </a:p>
        </p:txBody>
      </p:sp>
      <p:sp>
        <p:nvSpPr>
          <p:cNvPr id="6" name="Text 4"/>
          <p:cNvSpPr/>
          <p:nvPr/>
        </p:nvSpPr>
        <p:spPr>
          <a:xfrm>
            <a:off x="4247793" y="3541276"/>
            <a:ext cx="2773918" cy="2765346"/>
          </a:xfrm>
          <a:prstGeom prst="rect">
            <a:avLst/>
          </a:prstGeom>
          <a:noFill/>
          <a:ln/>
        </p:spPr>
        <p:txBody>
          <a:bodyPr wrap="square" lIns="0" tIns="0" rIns="0" bIns="0" rtlCol="0" anchor="t"/>
          <a:lstStyle/>
          <a:p>
            <a:pPr algn="l" indent="0" marL="0">
              <a:lnSpc>
                <a:spcPts val="3100"/>
              </a:lnSpc>
              <a:buNone/>
            </a:pPr>
            <a:r>
              <a:rPr lang="en-US" sz="1900" dirty="0">
                <a:solidFill>
                  <a:srgbClr val="DAD8E9"/>
                </a:solidFill>
                <a:latin typeface="Mukta Light" pitchFamily="34" charset="0"/>
                <a:ea typeface="Mukta Light" pitchFamily="34" charset="-122"/>
                <a:cs typeface="Mukta Light" pitchFamily="34" charset="-120"/>
              </a:rPr>
              <a:t>This function scans the URL for misspellings or unusual characters in brand names, comparing them to a database of known brands and flagging any discrepancies.</a:t>
            </a:r>
            <a:endParaRPr lang="en-US" sz="1900" dirty="0"/>
          </a:p>
        </p:txBody>
      </p:sp>
      <p:sp>
        <p:nvSpPr>
          <p:cNvPr id="7" name="Text 5"/>
          <p:cNvSpPr/>
          <p:nvPr/>
        </p:nvSpPr>
        <p:spPr>
          <a:xfrm>
            <a:off x="7631549" y="2608659"/>
            <a:ext cx="2773918" cy="685800"/>
          </a:xfrm>
          <a:prstGeom prst="rect">
            <a:avLst/>
          </a:prstGeom>
          <a:noFill/>
          <a:ln/>
        </p:spPr>
        <p:txBody>
          <a:bodyPr wrap="square" lIns="0" tIns="0" rIns="0" bIns="0" rtlCol="0" anchor="t"/>
          <a:lstStyle/>
          <a:p>
            <a:pPr algn="l" indent="0" marL="0">
              <a:lnSpc>
                <a:spcPts val="2700"/>
              </a:lnSpc>
              <a:buNone/>
            </a:pPr>
            <a:r>
              <a:rPr lang="en-US" sz="2150" dirty="0">
                <a:solidFill>
                  <a:srgbClr val="C6BFEE"/>
                </a:solidFill>
                <a:latin typeface="Prompt Medium" pitchFamily="34" charset="0"/>
                <a:ea typeface="Prompt Medium" pitchFamily="34" charset="-122"/>
                <a:cs typeface="Prompt Medium" pitchFamily="34" charset="-120"/>
              </a:rPr>
              <a:t>hasTooManyDashes() and hasAtSymbol()</a:t>
            </a:r>
            <a:endParaRPr lang="en-US" sz="2150" dirty="0"/>
          </a:p>
        </p:txBody>
      </p:sp>
      <p:sp>
        <p:nvSpPr>
          <p:cNvPr id="8" name="Text 6"/>
          <p:cNvSpPr/>
          <p:nvPr/>
        </p:nvSpPr>
        <p:spPr>
          <a:xfrm>
            <a:off x="7631549" y="3541276"/>
            <a:ext cx="2773918" cy="2765346"/>
          </a:xfrm>
          <a:prstGeom prst="rect">
            <a:avLst/>
          </a:prstGeom>
          <a:noFill/>
          <a:ln/>
        </p:spPr>
        <p:txBody>
          <a:bodyPr wrap="square" lIns="0" tIns="0" rIns="0" bIns="0" rtlCol="0" anchor="t"/>
          <a:lstStyle/>
          <a:p>
            <a:pPr algn="l" indent="0" marL="0">
              <a:lnSpc>
                <a:spcPts val="3100"/>
              </a:lnSpc>
              <a:buNone/>
            </a:pPr>
            <a:r>
              <a:rPr lang="en-US" sz="1900" dirty="0">
                <a:solidFill>
                  <a:srgbClr val="DAD8E9"/>
                </a:solidFill>
                <a:latin typeface="Mukta Light" pitchFamily="34" charset="0"/>
                <a:ea typeface="Mukta Light" pitchFamily="34" charset="-122"/>
                <a:cs typeface="Mukta Light" pitchFamily="34" charset="-120"/>
              </a:rPr>
              <a:t>These functions check for an excessive number of dashes (-) or the presence of the @ symbol in the URL, which are common characteristics of phishing links.</a:t>
            </a:r>
            <a:endParaRPr lang="en-US" sz="1900" dirty="0"/>
          </a:p>
        </p:txBody>
      </p:sp>
      <p:sp>
        <p:nvSpPr>
          <p:cNvPr id="9" name="Text 7"/>
          <p:cNvSpPr/>
          <p:nvPr/>
        </p:nvSpPr>
        <p:spPr>
          <a:xfrm>
            <a:off x="11015305" y="2608659"/>
            <a:ext cx="2773918" cy="685800"/>
          </a:xfrm>
          <a:prstGeom prst="rect">
            <a:avLst/>
          </a:prstGeom>
          <a:noFill/>
          <a:ln/>
        </p:spPr>
        <p:txBody>
          <a:bodyPr wrap="square" lIns="0" tIns="0" rIns="0" bIns="0" rtlCol="0" anchor="t"/>
          <a:lstStyle/>
          <a:p>
            <a:pPr algn="l" indent="0" marL="0">
              <a:lnSpc>
                <a:spcPts val="2700"/>
              </a:lnSpc>
              <a:buNone/>
            </a:pPr>
            <a:r>
              <a:rPr lang="en-US" sz="2150" dirty="0">
                <a:solidFill>
                  <a:srgbClr val="C6BFEE"/>
                </a:solidFill>
                <a:latin typeface="Prompt Medium" pitchFamily="34" charset="0"/>
                <a:ea typeface="Prompt Medium" pitchFamily="34" charset="-122"/>
                <a:cs typeface="Prompt Medium" pitchFamily="34" charset="-120"/>
              </a:rPr>
              <a:t>isIPAddress() and calculateRiskScore()</a:t>
            </a:r>
            <a:endParaRPr lang="en-US" sz="2150" dirty="0"/>
          </a:p>
        </p:txBody>
      </p:sp>
      <p:sp>
        <p:nvSpPr>
          <p:cNvPr id="10" name="Text 8"/>
          <p:cNvSpPr/>
          <p:nvPr/>
        </p:nvSpPr>
        <p:spPr>
          <a:xfrm>
            <a:off x="11015305" y="3541276"/>
            <a:ext cx="2773918" cy="3160395"/>
          </a:xfrm>
          <a:prstGeom prst="rect">
            <a:avLst/>
          </a:prstGeom>
          <a:noFill/>
          <a:ln/>
        </p:spPr>
        <p:txBody>
          <a:bodyPr wrap="square" lIns="0" tIns="0" rIns="0" bIns="0" rtlCol="0" anchor="t"/>
          <a:lstStyle/>
          <a:p>
            <a:pPr algn="l" indent="0" marL="0">
              <a:lnSpc>
                <a:spcPts val="3100"/>
              </a:lnSpc>
              <a:buNone/>
            </a:pPr>
            <a:r>
              <a:rPr lang="en-US" sz="1900" dirty="0">
                <a:solidFill>
                  <a:srgbClr val="DAD8E9"/>
                </a:solidFill>
                <a:latin typeface="Mukta Light" pitchFamily="34" charset="0"/>
                <a:ea typeface="Mukta Light" pitchFamily="34" charset="-122"/>
                <a:cs typeface="Mukta Light" pitchFamily="34" charset="-120"/>
              </a:rPr>
              <a:t>The isIPAddress() function determines if the URL is based on an IP address, while the calculateRiskScore() function assigns a risk score based on the results of the various checks.</a:t>
            </a:r>
            <a:endParaRPr lang="en-US" sz="1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63905" y="600670"/>
            <a:ext cx="9609177" cy="606266"/>
          </a:xfrm>
          <a:prstGeom prst="rect">
            <a:avLst/>
          </a:prstGeom>
          <a:noFill/>
          <a:ln/>
        </p:spPr>
        <p:txBody>
          <a:bodyPr wrap="none" lIns="0" tIns="0" rIns="0" bIns="0" rtlCol="0" anchor="t"/>
          <a:lstStyle/>
          <a:p>
            <a:pPr algn="l" indent="0" marL="0">
              <a:lnSpc>
                <a:spcPts val="4750"/>
              </a:lnSpc>
              <a:buNone/>
            </a:pPr>
            <a:r>
              <a:rPr lang="en-US" sz="3800" dirty="0">
                <a:solidFill>
                  <a:srgbClr val="C6BFEE"/>
                </a:solidFill>
                <a:latin typeface="Prompt Medium" pitchFamily="34" charset="0"/>
                <a:ea typeface="Prompt Medium" pitchFamily="34" charset="-122"/>
                <a:cs typeface="Prompt Medium" pitchFamily="34" charset="-120"/>
              </a:rPr>
              <a:t>Risk Score System: Evaluating the Threat</a:t>
            </a:r>
            <a:endParaRPr lang="en-US" sz="3800" dirty="0"/>
          </a:p>
        </p:txBody>
      </p:sp>
      <p:pic>
        <p:nvPicPr>
          <p:cNvPr id="3" name="Image 0" descr="preencoded.png">    </p:cNvPr>
          <p:cNvPicPr>
            <a:picLocks noChangeAspect="1"/>
          </p:cNvPicPr>
          <p:nvPr/>
        </p:nvPicPr>
        <p:blipFill>
          <a:blip r:embed="rId1"/>
          <a:stretch>
            <a:fillRect/>
          </a:stretch>
        </p:blipFill>
        <p:spPr>
          <a:xfrm>
            <a:off x="3228737" y="1643420"/>
            <a:ext cx="1621393" cy="1219557"/>
          </a:xfrm>
          <a:prstGeom prst="rect">
            <a:avLst/>
          </a:prstGeom>
        </p:spPr>
      </p:pic>
      <p:sp>
        <p:nvSpPr>
          <p:cNvPr id="4" name="Text 1"/>
          <p:cNvSpPr/>
          <p:nvPr/>
        </p:nvSpPr>
        <p:spPr>
          <a:xfrm>
            <a:off x="3885962" y="2211467"/>
            <a:ext cx="306824" cy="383619"/>
          </a:xfrm>
          <a:prstGeom prst="rect">
            <a:avLst/>
          </a:prstGeom>
          <a:noFill/>
          <a:ln/>
        </p:spPr>
        <p:txBody>
          <a:bodyPr wrap="none" lIns="0" tIns="0" rIns="0" bIns="0" rtlCol="0" anchor="t"/>
          <a:lstStyle/>
          <a:p>
            <a:pPr algn="ctr" indent="0" marL="0">
              <a:lnSpc>
                <a:spcPts val="3850"/>
              </a:lnSpc>
              <a:buNone/>
            </a:pPr>
            <a:r>
              <a:rPr lang="en-US" sz="2400" dirty="0">
                <a:solidFill>
                  <a:srgbClr val="DAD8E9"/>
                </a:solidFill>
                <a:latin typeface="Prompt Medium" pitchFamily="34" charset="0"/>
                <a:ea typeface="Prompt Medium" pitchFamily="34" charset="-122"/>
                <a:cs typeface="Prompt Medium" pitchFamily="34" charset="-120"/>
              </a:rPr>
              <a:t>1</a:t>
            </a:r>
            <a:endParaRPr lang="en-US" sz="2400" dirty="0"/>
          </a:p>
        </p:txBody>
      </p:sp>
      <p:sp>
        <p:nvSpPr>
          <p:cNvPr id="5" name="Text 2"/>
          <p:cNvSpPr/>
          <p:nvPr/>
        </p:nvSpPr>
        <p:spPr>
          <a:xfrm>
            <a:off x="5068372" y="1861661"/>
            <a:ext cx="1571387" cy="303133"/>
          </a:xfrm>
          <a:prstGeom prst="rect">
            <a:avLst/>
          </a:prstGeom>
          <a:noFill/>
          <a:ln/>
        </p:spPr>
        <p:txBody>
          <a:bodyPr wrap="none" lIns="0" tIns="0" rIns="0" bIns="0" rtlCol="0" anchor="t"/>
          <a:lstStyle/>
          <a:p>
            <a:pPr algn="l" indent="0" marL="0">
              <a:lnSpc>
                <a:spcPts val="2350"/>
              </a:lnSpc>
              <a:buNone/>
            </a:pPr>
            <a:r>
              <a:rPr lang="en-US" sz="1900" dirty="0">
                <a:solidFill>
                  <a:srgbClr val="DAD8E9"/>
                </a:solidFill>
                <a:latin typeface="Prompt Medium" pitchFamily="34" charset="0"/>
                <a:ea typeface="Prompt Medium" pitchFamily="34" charset="-122"/>
                <a:cs typeface="Prompt Medium" pitchFamily="34" charset="-120"/>
              </a:rPr>
              <a:t>10</a:t>
            </a:r>
            <a:endParaRPr lang="en-US" sz="1900" dirty="0"/>
          </a:p>
        </p:txBody>
      </p:sp>
      <p:sp>
        <p:nvSpPr>
          <p:cNvPr id="6" name="Text 3"/>
          <p:cNvSpPr/>
          <p:nvPr/>
        </p:nvSpPr>
        <p:spPr>
          <a:xfrm>
            <a:off x="5068372" y="2295644"/>
            <a:ext cx="1571387" cy="349091"/>
          </a:xfrm>
          <a:prstGeom prst="rect">
            <a:avLst/>
          </a:prstGeom>
          <a:noFill/>
          <a:ln/>
        </p:spPr>
        <p:txBody>
          <a:bodyPr wrap="none" lIns="0" tIns="0" rIns="0" bIns="0" rtlCol="0" anchor="t"/>
          <a:lstStyle/>
          <a:p>
            <a:pPr algn="l" indent="0" marL="0">
              <a:lnSpc>
                <a:spcPts val="2700"/>
              </a:lnSpc>
              <a:buNone/>
            </a:pPr>
            <a:r>
              <a:rPr lang="en-US" sz="1700" dirty="0">
                <a:solidFill>
                  <a:srgbClr val="DAD8E9"/>
                </a:solidFill>
                <a:latin typeface="Mukta Light" pitchFamily="34" charset="0"/>
                <a:ea typeface="Mukta Light" pitchFamily="34" charset="-122"/>
                <a:cs typeface="Mukta Light" pitchFamily="34" charset="-120"/>
              </a:rPr>
              <a:t>Highly Dangerous</a:t>
            </a:r>
            <a:endParaRPr lang="en-US" sz="1700" dirty="0"/>
          </a:p>
        </p:txBody>
      </p:sp>
      <p:sp>
        <p:nvSpPr>
          <p:cNvPr id="7" name="Shape 4"/>
          <p:cNvSpPr/>
          <p:nvPr/>
        </p:nvSpPr>
        <p:spPr>
          <a:xfrm>
            <a:off x="4904661" y="2875002"/>
            <a:ext cx="8907304" cy="15240"/>
          </a:xfrm>
          <a:prstGeom prst="roundRect">
            <a:avLst>
              <a:gd name="adj" fmla="val 601512"/>
            </a:avLst>
          </a:prstGeom>
          <a:solidFill>
            <a:srgbClr val="6D4562"/>
          </a:solidFill>
          <a:ln/>
        </p:spPr>
      </p:sp>
      <p:pic>
        <p:nvPicPr>
          <p:cNvPr id="8" name="Image 1" descr="preencoded.png">    </p:cNvPr>
          <p:cNvPicPr>
            <a:picLocks noChangeAspect="1"/>
          </p:cNvPicPr>
          <p:nvPr/>
        </p:nvPicPr>
        <p:blipFill>
          <a:blip r:embed="rId2"/>
          <a:stretch>
            <a:fillRect/>
          </a:stretch>
        </p:blipFill>
        <p:spPr>
          <a:xfrm>
            <a:off x="2418040" y="2917507"/>
            <a:ext cx="3242786" cy="1219557"/>
          </a:xfrm>
          <a:prstGeom prst="rect">
            <a:avLst/>
          </a:prstGeom>
        </p:spPr>
      </p:pic>
      <p:sp>
        <p:nvSpPr>
          <p:cNvPr id="9" name="Text 5"/>
          <p:cNvSpPr/>
          <p:nvPr/>
        </p:nvSpPr>
        <p:spPr>
          <a:xfrm>
            <a:off x="3885962" y="3335417"/>
            <a:ext cx="306824" cy="383619"/>
          </a:xfrm>
          <a:prstGeom prst="rect">
            <a:avLst/>
          </a:prstGeom>
          <a:noFill/>
          <a:ln/>
        </p:spPr>
        <p:txBody>
          <a:bodyPr wrap="none" lIns="0" tIns="0" rIns="0" bIns="0" rtlCol="0" anchor="t"/>
          <a:lstStyle/>
          <a:p>
            <a:pPr algn="ctr" indent="0" marL="0">
              <a:lnSpc>
                <a:spcPts val="3850"/>
              </a:lnSpc>
              <a:buNone/>
            </a:pPr>
            <a:r>
              <a:rPr lang="en-US" sz="2400" dirty="0">
                <a:solidFill>
                  <a:srgbClr val="DAD8E9"/>
                </a:solidFill>
                <a:latin typeface="Prompt Medium" pitchFamily="34" charset="0"/>
                <a:ea typeface="Prompt Medium" pitchFamily="34" charset="-122"/>
                <a:cs typeface="Prompt Medium" pitchFamily="34" charset="-120"/>
              </a:rPr>
              <a:t>2</a:t>
            </a:r>
            <a:endParaRPr lang="en-US" sz="2400" dirty="0"/>
          </a:p>
        </p:txBody>
      </p:sp>
      <p:sp>
        <p:nvSpPr>
          <p:cNvPr id="10" name="Text 6"/>
          <p:cNvSpPr/>
          <p:nvPr/>
        </p:nvSpPr>
        <p:spPr>
          <a:xfrm>
            <a:off x="5879068" y="3375660"/>
            <a:ext cx="400050" cy="303133"/>
          </a:xfrm>
          <a:prstGeom prst="rect">
            <a:avLst/>
          </a:prstGeom>
          <a:noFill/>
          <a:ln/>
        </p:spPr>
        <p:txBody>
          <a:bodyPr wrap="none" lIns="0" tIns="0" rIns="0" bIns="0" rtlCol="0" anchor="t"/>
          <a:lstStyle/>
          <a:p>
            <a:pPr algn="l" indent="0" marL="0">
              <a:lnSpc>
                <a:spcPts val="2350"/>
              </a:lnSpc>
              <a:buNone/>
            </a:pPr>
            <a:r>
              <a:rPr lang="en-US" sz="1900" dirty="0">
                <a:solidFill>
                  <a:srgbClr val="DAD8E9"/>
                </a:solidFill>
                <a:latin typeface="Prompt Medium" pitchFamily="34" charset="0"/>
                <a:ea typeface="Prompt Medium" pitchFamily="34" charset="-122"/>
                <a:cs typeface="Prompt Medium" pitchFamily="34" charset="-120"/>
              </a:rPr>
              <a:t>6-9</a:t>
            </a:r>
            <a:endParaRPr lang="en-US" sz="1900" dirty="0"/>
          </a:p>
        </p:txBody>
      </p:sp>
      <p:sp>
        <p:nvSpPr>
          <p:cNvPr id="11" name="Shape 7"/>
          <p:cNvSpPr/>
          <p:nvPr/>
        </p:nvSpPr>
        <p:spPr>
          <a:xfrm>
            <a:off x="5715357" y="4149090"/>
            <a:ext cx="8096607" cy="15240"/>
          </a:xfrm>
          <a:prstGeom prst="roundRect">
            <a:avLst>
              <a:gd name="adj" fmla="val 601512"/>
            </a:avLst>
          </a:prstGeom>
          <a:solidFill>
            <a:srgbClr val="6D4562"/>
          </a:solidFill>
          <a:ln/>
        </p:spPr>
      </p:sp>
      <p:pic>
        <p:nvPicPr>
          <p:cNvPr id="12" name="Image 2" descr="preencoded.png">    </p:cNvPr>
          <p:cNvPicPr>
            <a:picLocks noChangeAspect="1"/>
          </p:cNvPicPr>
          <p:nvPr/>
        </p:nvPicPr>
        <p:blipFill>
          <a:blip r:embed="rId3"/>
          <a:stretch>
            <a:fillRect/>
          </a:stretch>
        </p:blipFill>
        <p:spPr>
          <a:xfrm>
            <a:off x="1607344" y="4191595"/>
            <a:ext cx="4864298" cy="1219557"/>
          </a:xfrm>
          <a:prstGeom prst="rect">
            <a:avLst/>
          </a:prstGeom>
        </p:spPr>
      </p:pic>
      <p:sp>
        <p:nvSpPr>
          <p:cNvPr id="13" name="Text 8"/>
          <p:cNvSpPr/>
          <p:nvPr/>
        </p:nvSpPr>
        <p:spPr>
          <a:xfrm>
            <a:off x="3886081" y="4609505"/>
            <a:ext cx="306824" cy="383619"/>
          </a:xfrm>
          <a:prstGeom prst="rect">
            <a:avLst/>
          </a:prstGeom>
          <a:noFill/>
          <a:ln/>
        </p:spPr>
        <p:txBody>
          <a:bodyPr wrap="none" lIns="0" tIns="0" rIns="0" bIns="0" rtlCol="0" anchor="t"/>
          <a:lstStyle/>
          <a:p>
            <a:pPr algn="ctr" indent="0" marL="0">
              <a:lnSpc>
                <a:spcPts val="3850"/>
              </a:lnSpc>
              <a:buNone/>
            </a:pPr>
            <a:r>
              <a:rPr lang="en-US" sz="2400" dirty="0">
                <a:solidFill>
                  <a:srgbClr val="DAD8E9"/>
                </a:solidFill>
                <a:latin typeface="Prompt Medium" pitchFamily="34" charset="0"/>
                <a:ea typeface="Prompt Medium" pitchFamily="34" charset="-122"/>
                <a:cs typeface="Prompt Medium" pitchFamily="34" charset="-120"/>
              </a:rPr>
              <a:t>3</a:t>
            </a:r>
            <a:endParaRPr lang="en-US" sz="2400" dirty="0"/>
          </a:p>
        </p:txBody>
      </p:sp>
      <p:sp>
        <p:nvSpPr>
          <p:cNvPr id="14" name="Text 9"/>
          <p:cNvSpPr/>
          <p:nvPr/>
        </p:nvSpPr>
        <p:spPr>
          <a:xfrm>
            <a:off x="6689884" y="4409837"/>
            <a:ext cx="936903" cy="303133"/>
          </a:xfrm>
          <a:prstGeom prst="rect">
            <a:avLst/>
          </a:prstGeom>
          <a:noFill/>
          <a:ln/>
        </p:spPr>
        <p:txBody>
          <a:bodyPr wrap="none" lIns="0" tIns="0" rIns="0" bIns="0" rtlCol="0" anchor="t"/>
          <a:lstStyle/>
          <a:p>
            <a:pPr algn="l" indent="0" marL="0">
              <a:lnSpc>
                <a:spcPts val="2350"/>
              </a:lnSpc>
              <a:buNone/>
            </a:pPr>
            <a:r>
              <a:rPr lang="en-US" sz="1900" dirty="0">
                <a:solidFill>
                  <a:srgbClr val="DAD8E9"/>
                </a:solidFill>
                <a:latin typeface="Prompt Medium" pitchFamily="34" charset="0"/>
                <a:ea typeface="Prompt Medium" pitchFamily="34" charset="-122"/>
                <a:cs typeface="Prompt Medium" pitchFamily="34" charset="-120"/>
              </a:rPr>
              <a:t>5</a:t>
            </a:r>
            <a:endParaRPr lang="en-US" sz="1900" dirty="0"/>
          </a:p>
        </p:txBody>
      </p:sp>
      <p:sp>
        <p:nvSpPr>
          <p:cNvPr id="15" name="Text 10"/>
          <p:cNvSpPr/>
          <p:nvPr/>
        </p:nvSpPr>
        <p:spPr>
          <a:xfrm>
            <a:off x="6689884" y="4843820"/>
            <a:ext cx="936903" cy="349091"/>
          </a:xfrm>
          <a:prstGeom prst="rect">
            <a:avLst/>
          </a:prstGeom>
          <a:noFill/>
          <a:ln/>
        </p:spPr>
        <p:txBody>
          <a:bodyPr wrap="none" lIns="0" tIns="0" rIns="0" bIns="0" rtlCol="0" anchor="t"/>
          <a:lstStyle/>
          <a:p>
            <a:pPr algn="l" indent="0" marL="0">
              <a:lnSpc>
                <a:spcPts val="2700"/>
              </a:lnSpc>
              <a:buNone/>
            </a:pPr>
            <a:r>
              <a:rPr lang="en-US" sz="1700" dirty="0">
                <a:solidFill>
                  <a:srgbClr val="DAD8E9"/>
                </a:solidFill>
                <a:latin typeface="Mukta Light" pitchFamily="34" charset="0"/>
                <a:ea typeface="Mukta Light" pitchFamily="34" charset="-122"/>
                <a:cs typeface="Mukta Light" pitchFamily="34" charset="-120"/>
              </a:rPr>
              <a:t>Suspicious</a:t>
            </a:r>
            <a:endParaRPr lang="en-US" sz="1700" dirty="0"/>
          </a:p>
        </p:txBody>
      </p:sp>
      <p:sp>
        <p:nvSpPr>
          <p:cNvPr id="16" name="Shape 11"/>
          <p:cNvSpPr/>
          <p:nvPr/>
        </p:nvSpPr>
        <p:spPr>
          <a:xfrm>
            <a:off x="6526173" y="5423178"/>
            <a:ext cx="7285792" cy="15240"/>
          </a:xfrm>
          <a:prstGeom prst="roundRect">
            <a:avLst>
              <a:gd name="adj" fmla="val 601512"/>
            </a:avLst>
          </a:prstGeom>
          <a:solidFill>
            <a:srgbClr val="6D4562"/>
          </a:solidFill>
          <a:ln/>
        </p:spPr>
      </p:sp>
      <p:pic>
        <p:nvPicPr>
          <p:cNvPr id="17" name="Image 3" descr="preencoded.png">    </p:cNvPr>
          <p:cNvPicPr>
            <a:picLocks noChangeAspect="1"/>
          </p:cNvPicPr>
          <p:nvPr/>
        </p:nvPicPr>
        <p:blipFill>
          <a:blip r:embed="rId4"/>
          <a:stretch>
            <a:fillRect/>
          </a:stretch>
        </p:blipFill>
        <p:spPr>
          <a:xfrm>
            <a:off x="796647" y="5465683"/>
            <a:ext cx="6485692" cy="1219557"/>
          </a:xfrm>
          <a:prstGeom prst="rect">
            <a:avLst/>
          </a:prstGeom>
        </p:spPr>
      </p:pic>
      <p:sp>
        <p:nvSpPr>
          <p:cNvPr id="18" name="Text 12"/>
          <p:cNvSpPr/>
          <p:nvPr/>
        </p:nvSpPr>
        <p:spPr>
          <a:xfrm>
            <a:off x="3885962" y="5883593"/>
            <a:ext cx="306824" cy="383619"/>
          </a:xfrm>
          <a:prstGeom prst="rect">
            <a:avLst/>
          </a:prstGeom>
          <a:noFill/>
          <a:ln/>
        </p:spPr>
        <p:txBody>
          <a:bodyPr wrap="none" lIns="0" tIns="0" rIns="0" bIns="0" rtlCol="0" anchor="t"/>
          <a:lstStyle/>
          <a:p>
            <a:pPr algn="ctr" indent="0" marL="0">
              <a:lnSpc>
                <a:spcPts val="3850"/>
              </a:lnSpc>
              <a:buNone/>
            </a:pPr>
            <a:r>
              <a:rPr lang="en-US" sz="2400" dirty="0">
                <a:solidFill>
                  <a:srgbClr val="DAD8E9"/>
                </a:solidFill>
                <a:latin typeface="Prompt Medium" pitchFamily="34" charset="0"/>
                <a:ea typeface="Prompt Medium" pitchFamily="34" charset="-122"/>
                <a:cs typeface="Prompt Medium" pitchFamily="34" charset="-120"/>
              </a:rPr>
              <a:t>4</a:t>
            </a:r>
            <a:endParaRPr lang="en-US" sz="2400" dirty="0"/>
          </a:p>
        </p:txBody>
      </p:sp>
      <p:sp>
        <p:nvSpPr>
          <p:cNvPr id="19" name="Text 13"/>
          <p:cNvSpPr/>
          <p:nvPr/>
        </p:nvSpPr>
        <p:spPr>
          <a:xfrm>
            <a:off x="7500580" y="5683925"/>
            <a:ext cx="942737" cy="303133"/>
          </a:xfrm>
          <a:prstGeom prst="rect">
            <a:avLst/>
          </a:prstGeom>
          <a:noFill/>
          <a:ln/>
        </p:spPr>
        <p:txBody>
          <a:bodyPr wrap="none" lIns="0" tIns="0" rIns="0" bIns="0" rtlCol="0" anchor="t"/>
          <a:lstStyle/>
          <a:p>
            <a:pPr algn="l" indent="0" marL="0">
              <a:lnSpc>
                <a:spcPts val="2350"/>
              </a:lnSpc>
              <a:buNone/>
            </a:pPr>
            <a:r>
              <a:rPr lang="en-US" sz="1900" dirty="0">
                <a:solidFill>
                  <a:srgbClr val="DAD8E9"/>
                </a:solidFill>
                <a:latin typeface="Prompt Medium" pitchFamily="34" charset="0"/>
                <a:ea typeface="Prompt Medium" pitchFamily="34" charset="-122"/>
                <a:cs typeface="Prompt Medium" pitchFamily="34" charset="-120"/>
              </a:rPr>
              <a:t>Below 4</a:t>
            </a:r>
            <a:endParaRPr lang="en-US" sz="1900" dirty="0"/>
          </a:p>
        </p:txBody>
      </p:sp>
      <p:sp>
        <p:nvSpPr>
          <p:cNvPr id="20" name="Text 14"/>
          <p:cNvSpPr/>
          <p:nvPr/>
        </p:nvSpPr>
        <p:spPr>
          <a:xfrm>
            <a:off x="7500580" y="6117908"/>
            <a:ext cx="942737" cy="349091"/>
          </a:xfrm>
          <a:prstGeom prst="rect">
            <a:avLst/>
          </a:prstGeom>
          <a:noFill/>
          <a:ln/>
        </p:spPr>
        <p:txBody>
          <a:bodyPr wrap="none" lIns="0" tIns="0" rIns="0" bIns="0" rtlCol="0" anchor="t"/>
          <a:lstStyle/>
          <a:p>
            <a:pPr algn="l" indent="0" marL="0">
              <a:lnSpc>
                <a:spcPts val="2700"/>
              </a:lnSpc>
              <a:buNone/>
            </a:pPr>
            <a:r>
              <a:rPr lang="en-US" sz="1700" dirty="0">
                <a:solidFill>
                  <a:srgbClr val="DAD8E9"/>
                </a:solidFill>
                <a:latin typeface="Mukta Light" pitchFamily="34" charset="0"/>
                <a:ea typeface="Mukta Light" pitchFamily="34" charset="-122"/>
                <a:cs typeface="Mukta Light" pitchFamily="34" charset="-120"/>
              </a:rPr>
              <a:t>Likely Safe</a:t>
            </a:r>
            <a:endParaRPr lang="en-US" sz="1700" dirty="0"/>
          </a:p>
        </p:txBody>
      </p:sp>
      <p:sp>
        <p:nvSpPr>
          <p:cNvPr id="21" name="Text 15"/>
          <p:cNvSpPr/>
          <p:nvPr/>
        </p:nvSpPr>
        <p:spPr>
          <a:xfrm>
            <a:off x="763905" y="6930747"/>
            <a:ext cx="13102590" cy="698183"/>
          </a:xfrm>
          <a:prstGeom prst="rect">
            <a:avLst/>
          </a:prstGeom>
          <a:noFill/>
          <a:ln/>
        </p:spPr>
        <p:txBody>
          <a:bodyPr wrap="square" lIns="0" tIns="0" rIns="0" bIns="0" rtlCol="0" anchor="t"/>
          <a:lstStyle/>
          <a:p>
            <a:pPr algn="l" indent="0" marL="0">
              <a:lnSpc>
                <a:spcPts val="2700"/>
              </a:lnSpc>
              <a:buNone/>
            </a:pPr>
            <a:r>
              <a:rPr lang="en-US" sz="1700" dirty="0">
                <a:solidFill>
                  <a:srgbClr val="DAD8E9"/>
                </a:solidFill>
                <a:latin typeface="Mukta Light" pitchFamily="34" charset="0"/>
                <a:ea typeface="Mukta Light" pitchFamily="34" charset="-122"/>
                <a:cs typeface="Mukta Light" pitchFamily="34" charset="-120"/>
              </a:rPr>
              <a:t>The risk score system assigns points based on the number of phishing indicators detected. A higher score indicates a higher risk of the URL being a phishing attempt.</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31386"/>
          </a:xfrm>
          <a:prstGeom prst="rect">
            <a:avLst/>
          </a:prstGeom>
        </p:spPr>
      </p:pic>
      <p:sp>
        <p:nvSpPr>
          <p:cNvPr id="3" name="Text 0"/>
          <p:cNvSpPr/>
          <p:nvPr/>
        </p:nvSpPr>
        <p:spPr>
          <a:xfrm>
            <a:off x="664369" y="521970"/>
            <a:ext cx="7815263" cy="1054418"/>
          </a:xfrm>
          <a:prstGeom prst="rect">
            <a:avLst/>
          </a:prstGeom>
          <a:noFill/>
          <a:ln/>
        </p:spPr>
        <p:txBody>
          <a:bodyPr wrap="square" lIns="0" tIns="0" rIns="0" bIns="0" rtlCol="0" anchor="t"/>
          <a:lstStyle/>
          <a:p>
            <a:pPr algn="l" indent="0" marL="0">
              <a:lnSpc>
                <a:spcPts val="4150"/>
              </a:lnSpc>
              <a:buNone/>
            </a:pPr>
            <a:r>
              <a:rPr lang="en-US" sz="3300" dirty="0">
                <a:solidFill>
                  <a:srgbClr val="C6BFEE"/>
                </a:solidFill>
                <a:latin typeface="Prompt Medium" pitchFamily="34" charset="0"/>
                <a:ea typeface="Prompt Medium" pitchFamily="34" charset="-122"/>
                <a:cs typeface="Prompt Medium" pitchFamily="34" charset="-120"/>
              </a:rPr>
              <a:t>The Importance of Cybersecurity Awareness</a:t>
            </a:r>
            <a:endParaRPr lang="en-US" sz="330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4369" y="1861066"/>
            <a:ext cx="474464" cy="474464"/>
          </a:xfrm>
          <a:prstGeom prst="rect">
            <a:avLst/>
          </a:prstGeom>
        </p:spPr>
      </p:pic>
      <p:sp>
        <p:nvSpPr>
          <p:cNvPr id="5" name="Text 1"/>
          <p:cNvSpPr/>
          <p:nvPr/>
        </p:nvSpPr>
        <p:spPr>
          <a:xfrm>
            <a:off x="664369" y="2572703"/>
            <a:ext cx="2109192" cy="263723"/>
          </a:xfrm>
          <a:prstGeom prst="rect">
            <a:avLst/>
          </a:prstGeom>
          <a:noFill/>
          <a:ln/>
        </p:spPr>
        <p:txBody>
          <a:bodyPr wrap="none" lIns="0" tIns="0" rIns="0" bIns="0" rtlCol="0" anchor="t"/>
          <a:lstStyle/>
          <a:p>
            <a:pPr algn="l" indent="0" marL="0">
              <a:lnSpc>
                <a:spcPts val="2050"/>
              </a:lnSpc>
              <a:buNone/>
            </a:pPr>
            <a:r>
              <a:rPr lang="en-US" sz="1650" dirty="0">
                <a:solidFill>
                  <a:srgbClr val="DAD8E9"/>
                </a:solidFill>
                <a:latin typeface="Prompt Medium" pitchFamily="34" charset="0"/>
                <a:ea typeface="Prompt Medium" pitchFamily="34" charset="-122"/>
                <a:cs typeface="Prompt Medium" pitchFamily="34" charset="-120"/>
              </a:rPr>
              <a:t>Protection</a:t>
            </a:r>
            <a:endParaRPr lang="en-US" sz="1650" dirty="0"/>
          </a:p>
        </p:txBody>
      </p:sp>
      <p:sp>
        <p:nvSpPr>
          <p:cNvPr id="6" name="Text 2"/>
          <p:cNvSpPr/>
          <p:nvPr/>
        </p:nvSpPr>
        <p:spPr>
          <a:xfrm>
            <a:off x="664369" y="2950250"/>
            <a:ext cx="7815263" cy="607219"/>
          </a:xfrm>
          <a:prstGeom prst="rect">
            <a:avLst/>
          </a:prstGeom>
          <a:noFill/>
          <a:ln/>
        </p:spPr>
        <p:txBody>
          <a:bodyPr wrap="square" lIns="0" tIns="0" rIns="0" bIns="0" rtlCol="0" anchor="t"/>
          <a:lstStyle/>
          <a:p>
            <a:pPr algn="l" indent="0" marL="0">
              <a:lnSpc>
                <a:spcPts val="2350"/>
              </a:lnSpc>
              <a:buNone/>
            </a:pPr>
            <a:r>
              <a:rPr lang="en-US" sz="1450" dirty="0">
                <a:solidFill>
                  <a:srgbClr val="DAD8E9"/>
                </a:solidFill>
                <a:latin typeface="Mukta Light" pitchFamily="34" charset="0"/>
                <a:ea typeface="Mukta Light" pitchFamily="34" charset="-122"/>
                <a:cs typeface="Mukta Light" pitchFamily="34" charset="-120"/>
              </a:rPr>
              <a:t>Our project empowers users to identify and avoid phishing scams, protecting their personal information and financial security.</a:t>
            </a:r>
            <a:endParaRPr lang="en-US" sz="1450" dirty="0"/>
          </a:p>
        </p:txBody>
      </p:sp>
      <p:pic>
        <p:nvPicPr>
          <p:cNvPr id="7"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4369" y="3937040"/>
            <a:ext cx="474464" cy="474464"/>
          </a:xfrm>
          <a:prstGeom prst="rect">
            <a:avLst/>
          </a:prstGeom>
        </p:spPr>
      </p:pic>
      <p:sp>
        <p:nvSpPr>
          <p:cNvPr id="8" name="Text 3"/>
          <p:cNvSpPr/>
          <p:nvPr/>
        </p:nvSpPr>
        <p:spPr>
          <a:xfrm>
            <a:off x="664369" y="4648676"/>
            <a:ext cx="2109192" cy="263723"/>
          </a:xfrm>
          <a:prstGeom prst="rect">
            <a:avLst/>
          </a:prstGeom>
          <a:noFill/>
          <a:ln/>
        </p:spPr>
        <p:txBody>
          <a:bodyPr wrap="none" lIns="0" tIns="0" rIns="0" bIns="0" rtlCol="0" anchor="t"/>
          <a:lstStyle/>
          <a:p>
            <a:pPr algn="l" indent="0" marL="0">
              <a:lnSpc>
                <a:spcPts val="2050"/>
              </a:lnSpc>
              <a:buNone/>
            </a:pPr>
            <a:r>
              <a:rPr lang="en-US" sz="1650" dirty="0">
                <a:solidFill>
                  <a:srgbClr val="DAD8E9"/>
                </a:solidFill>
                <a:latin typeface="Prompt Medium" pitchFamily="34" charset="0"/>
                <a:ea typeface="Prompt Medium" pitchFamily="34" charset="-122"/>
                <a:cs typeface="Prompt Medium" pitchFamily="34" charset="-120"/>
              </a:rPr>
              <a:t>Education</a:t>
            </a:r>
            <a:endParaRPr lang="en-US" sz="1650" dirty="0"/>
          </a:p>
        </p:txBody>
      </p:sp>
      <p:sp>
        <p:nvSpPr>
          <p:cNvPr id="9" name="Text 4"/>
          <p:cNvSpPr/>
          <p:nvPr/>
        </p:nvSpPr>
        <p:spPr>
          <a:xfrm>
            <a:off x="664369" y="5026223"/>
            <a:ext cx="7815263" cy="607219"/>
          </a:xfrm>
          <a:prstGeom prst="rect">
            <a:avLst/>
          </a:prstGeom>
          <a:noFill/>
          <a:ln/>
        </p:spPr>
        <p:txBody>
          <a:bodyPr wrap="square" lIns="0" tIns="0" rIns="0" bIns="0" rtlCol="0" anchor="t"/>
          <a:lstStyle/>
          <a:p>
            <a:pPr algn="l" indent="0" marL="0">
              <a:lnSpc>
                <a:spcPts val="2350"/>
              </a:lnSpc>
              <a:buNone/>
            </a:pPr>
            <a:r>
              <a:rPr lang="en-US" sz="1450" dirty="0">
                <a:solidFill>
                  <a:srgbClr val="DAD8E9"/>
                </a:solidFill>
                <a:latin typeface="Mukta Light" pitchFamily="34" charset="0"/>
                <a:ea typeface="Mukta Light" pitchFamily="34" charset="-122"/>
                <a:cs typeface="Mukta Light" pitchFamily="34" charset="-120"/>
              </a:rPr>
              <a:t>This initiative helps raise awareness about cybersecurity risks, equipping individuals with the knowledge to make informed decisions online.</a:t>
            </a:r>
            <a:endParaRPr lang="en-US" sz="1450" dirty="0"/>
          </a:p>
        </p:txBody>
      </p:sp>
      <p:pic>
        <p:nvPicPr>
          <p:cNvPr id="10"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64369" y="6013013"/>
            <a:ext cx="474464" cy="474464"/>
          </a:xfrm>
          <a:prstGeom prst="rect">
            <a:avLst/>
          </a:prstGeom>
        </p:spPr>
      </p:pic>
      <p:sp>
        <p:nvSpPr>
          <p:cNvPr id="11" name="Text 5"/>
          <p:cNvSpPr/>
          <p:nvPr/>
        </p:nvSpPr>
        <p:spPr>
          <a:xfrm>
            <a:off x="664369" y="6724650"/>
            <a:ext cx="2109192" cy="263723"/>
          </a:xfrm>
          <a:prstGeom prst="rect">
            <a:avLst/>
          </a:prstGeom>
          <a:noFill/>
          <a:ln/>
        </p:spPr>
        <p:txBody>
          <a:bodyPr wrap="none" lIns="0" tIns="0" rIns="0" bIns="0" rtlCol="0" anchor="t"/>
          <a:lstStyle/>
          <a:p>
            <a:pPr algn="l" indent="0" marL="0">
              <a:lnSpc>
                <a:spcPts val="2050"/>
              </a:lnSpc>
              <a:buNone/>
            </a:pPr>
            <a:r>
              <a:rPr lang="en-US" sz="1650" dirty="0">
                <a:solidFill>
                  <a:srgbClr val="DAD8E9"/>
                </a:solidFill>
                <a:latin typeface="Prompt Medium" pitchFamily="34" charset="0"/>
                <a:ea typeface="Prompt Medium" pitchFamily="34" charset="-122"/>
                <a:cs typeface="Prompt Medium" pitchFamily="34" charset="-120"/>
              </a:rPr>
              <a:t>Future Development</a:t>
            </a:r>
            <a:endParaRPr lang="en-US" sz="1650" dirty="0"/>
          </a:p>
        </p:txBody>
      </p:sp>
      <p:sp>
        <p:nvSpPr>
          <p:cNvPr id="12" name="Text 6"/>
          <p:cNvSpPr/>
          <p:nvPr/>
        </p:nvSpPr>
        <p:spPr>
          <a:xfrm>
            <a:off x="664369" y="7102197"/>
            <a:ext cx="7815263" cy="607219"/>
          </a:xfrm>
          <a:prstGeom prst="rect">
            <a:avLst/>
          </a:prstGeom>
          <a:noFill/>
          <a:ln/>
        </p:spPr>
        <p:txBody>
          <a:bodyPr wrap="square" lIns="0" tIns="0" rIns="0" bIns="0" rtlCol="0" anchor="t"/>
          <a:lstStyle/>
          <a:p>
            <a:pPr algn="l" indent="0" marL="0">
              <a:lnSpc>
                <a:spcPts val="2350"/>
              </a:lnSpc>
              <a:buNone/>
            </a:pPr>
            <a:r>
              <a:rPr lang="en-US" sz="1450" dirty="0">
                <a:solidFill>
                  <a:srgbClr val="DAD8E9"/>
                </a:solidFill>
                <a:latin typeface="Mukta Light" pitchFamily="34" charset="0"/>
                <a:ea typeface="Mukta Light" pitchFamily="34" charset="-122"/>
                <a:cs typeface="Mukta Light" pitchFamily="34" charset="-120"/>
              </a:rPr>
              <a:t>The foundation of this project can be expanded to include AI-powered detection systems and integrated databases to enhance its capabilities.</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890599"/>
          </a:xfrm>
          <a:prstGeom prst="rect">
            <a:avLst/>
          </a:prstGeom>
        </p:spPr>
      </p:pic>
      <p:sp>
        <p:nvSpPr>
          <p:cNvPr id="3" name="Text 0"/>
          <p:cNvSpPr/>
          <p:nvPr/>
        </p:nvSpPr>
        <p:spPr>
          <a:xfrm>
            <a:off x="809387" y="3710464"/>
            <a:ext cx="10975300" cy="642342"/>
          </a:xfrm>
          <a:prstGeom prst="rect">
            <a:avLst/>
          </a:prstGeom>
          <a:noFill/>
          <a:ln/>
        </p:spPr>
        <p:txBody>
          <a:bodyPr wrap="none" lIns="0" tIns="0" rIns="0" bIns="0" rtlCol="0" anchor="t"/>
          <a:lstStyle/>
          <a:p>
            <a:pPr algn="l" indent="0" marL="0">
              <a:lnSpc>
                <a:spcPts val="5050"/>
              </a:lnSpc>
              <a:buNone/>
            </a:pPr>
            <a:r>
              <a:rPr lang="en-US" sz="4000" dirty="0">
                <a:solidFill>
                  <a:srgbClr val="C6BFEE"/>
                </a:solidFill>
                <a:latin typeface="Prompt Medium" pitchFamily="34" charset="0"/>
                <a:ea typeface="Prompt Medium" pitchFamily="34" charset="-122"/>
                <a:cs typeface="Prompt Medium" pitchFamily="34" charset="-120"/>
              </a:rPr>
              <a:t>Future Improvements: Expanding our Reach</a:t>
            </a:r>
            <a:endParaRPr lang="en-US" sz="4000" dirty="0"/>
          </a:p>
        </p:txBody>
      </p:sp>
      <p:sp>
        <p:nvSpPr>
          <p:cNvPr id="4" name="Shape 1"/>
          <p:cNvSpPr/>
          <p:nvPr/>
        </p:nvSpPr>
        <p:spPr>
          <a:xfrm>
            <a:off x="809387" y="4699635"/>
            <a:ext cx="520303" cy="520303"/>
          </a:xfrm>
          <a:prstGeom prst="roundRect">
            <a:avLst>
              <a:gd name="adj" fmla="val 18668"/>
            </a:avLst>
          </a:prstGeom>
          <a:solidFill>
            <a:srgbClr val="542C49"/>
          </a:solidFill>
          <a:ln w="7620">
            <a:solidFill>
              <a:srgbClr val="6D4562"/>
            </a:solidFill>
            <a:prstDash val="solid"/>
          </a:ln>
        </p:spPr>
      </p:sp>
      <p:sp>
        <p:nvSpPr>
          <p:cNvPr id="5" name="Text 2"/>
          <p:cNvSpPr/>
          <p:nvPr/>
        </p:nvSpPr>
        <p:spPr>
          <a:xfrm>
            <a:off x="915412" y="4767084"/>
            <a:ext cx="308253" cy="385405"/>
          </a:xfrm>
          <a:prstGeom prst="rect">
            <a:avLst/>
          </a:prstGeom>
          <a:noFill/>
          <a:ln/>
        </p:spPr>
        <p:txBody>
          <a:bodyPr wrap="none" lIns="0" tIns="0" rIns="0" bIns="0" rtlCol="0" anchor="t"/>
          <a:lstStyle/>
          <a:p>
            <a:pPr algn="ctr" indent="0" marL="0">
              <a:lnSpc>
                <a:spcPts val="2400"/>
              </a:lnSpc>
              <a:buNone/>
            </a:pPr>
            <a:r>
              <a:rPr lang="en-US" sz="2400" dirty="0">
                <a:solidFill>
                  <a:srgbClr val="DAD8E9"/>
                </a:solidFill>
                <a:latin typeface="Prompt Medium" pitchFamily="34" charset="0"/>
                <a:ea typeface="Prompt Medium" pitchFamily="34" charset="-122"/>
                <a:cs typeface="Prompt Medium" pitchFamily="34" charset="-120"/>
              </a:rPr>
              <a:t>1</a:t>
            </a:r>
            <a:endParaRPr lang="en-US" sz="2400" dirty="0"/>
          </a:p>
        </p:txBody>
      </p:sp>
      <p:sp>
        <p:nvSpPr>
          <p:cNvPr id="6" name="Text 3"/>
          <p:cNvSpPr/>
          <p:nvPr/>
        </p:nvSpPr>
        <p:spPr>
          <a:xfrm>
            <a:off x="1560909" y="4779050"/>
            <a:ext cx="3393043" cy="642223"/>
          </a:xfrm>
          <a:prstGeom prst="rect">
            <a:avLst/>
          </a:prstGeom>
          <a:noFill/>
          <a:ln/>
        </p:spPr>
        <p:txBody>
          <a:bodyPr wrap="square" lIns="0" tIns="0" rIns="0" bIns="0" rtlCol="0" anchor="t"/>
          <a:lstStyle/>
          <a:p>
            <a:pPr algn="l" indent="0" marL="0">
              <a:lnSpc>
                <a:spcPts val="2500"/>
              </a:lnSpc>
              <a:buNone/>
            </a:pPr>
            <a:r>
              <a:rPr lang="en-US" sz="2000" dirty="0">
                <a:solidFill>
                  <a:srgbClr val="DAD8E9"/>
                </a:solidFill>
                <a:latin typeface="Prompt Medium" pitchFamily="34" charset="0"/>
                <a:ea typeface="Prompt Medium" pitchFamily="34" charset="-122"/>
                <a:cs typeface="Prompt Medium" pitchFamily="34" charset="-120"/>
              </a:rPr>
              <a:t>Machine Learning Integration</a:t>
            </a:r>
            <a:endParaRPr lang="en-US" sz="2000" dirty="0"/>
          </a:p>
        </p:txBody>
      </p:sp>
      <p:sp>
        <p:nvSpPr>
          <p:cNvPr id="7" name="Text 4"/>
          <p:cNvSpPr/>
          <p:nvPr/>
        </p:nvSpPr>
        <p:spPr>
          <a:xfrm>
            <a:off x="1560909" y="5559981"/>
            <a:ext cx="3393043" cy="1849636"/>
          </a:xfrm>
          <a:prstGeom prst="rect">
            <a:avLst/>
          </a:prstGeom>
          <a:noFill/>
          <a:ln/>
        </p:spPr>
        <p:txBody>
          <a:bodyPr wrap="square" lIns="0" tIns="0" rIns="0" bIns="0" rtlCol="0" anchor="t"/>
          <a:lstStyle/>
          <a:p>
            <a:pPr algn="l" indent="0" marL="0">
              <a:lnSpc>
                <a:spcPts val="2900"/>
              </a:lnSpc>
              <a:buNone/>
            </a:pPr>
            <a:r>
              <a:rPr lang="en-US" sz="1800" dirty="0">
                <a:solidFill>
                  <a:srgbClr val="DAD8E9"/>
                </a:solidFill>
                <a:latin typeface="Mukta Light" pitchFamily="34" charset="0"/>
                <a:ea typeface="Mukta Light" pitchFamily="34" charset="-122"/>
                <a:cs typeface="Mukta Light" pitchFamily="34" charset="-120"/>
              </a:rPr>
              <a:t>Integrating machine learning algorithms will enable the detector to adapt to new phishing patterns and evolve with the ever-changing cyber landscape.</a:t>
            </a:r>
            <a:endParaRPr lang="en-US" sz="1800" dirty="0"/>
          </a:p>
        </p:txBody>
      </p:sp>
      <p:sp>
        <p:nvSpPr>
          <p:cNvPr id="8" name="Shape 5"/>
          <p:cNvSpPr/>
          <p:nvPr/>
        </p:nvSpPr>
        <p:spPr>
          <a:xfrm>
            <a:off x="5242917" y="4699635"/>
            <a:ext cx="520303" cy="520303"/>
          </a:xfrm>
          <a:prstGeom prst="roundRect">
            <a:avLst>
              <a:gd name="adj" fmla="val 18668"/>
            </a:avLst>
          </a:prstGeom>
          <a:solidFill>
            <a:srgbClr val="542C49"/>
          </a:solidFill>
          <a:ln w="7620">
            <a:solidFill>
              <a:srgbClr val="6D4562"/>
            </a:solidFill>
            <a:prstDash val="solid"/>
          </a:ln>
        </p:spPr>
      </p:sp>
      <p:sp>
        <p:nvSpPr>
          <p:cNvPr id="9" name="Text 6"/>
          <p:cNvSpPr/>
          <p:nvPr/>
        </p:nvSpPr>
        <p:spPr>
          <a:xfrm>
            <a:off x="5348942" y="4767084"/>
            <a:ext cx="308253" cy="385405"/>
          </a:xfrm>
          <a:prstGeom prst="rect">
            <a:avLst/>
          </a:prstGeom>
          <a:noFill/>
          <a:ln/>
        </p:spPr>
        <p:txBody>
          <a:bodyPr wrap="none" lIns="0" tIns="0" rIns="0" bIns="0" rtlCol="0" anchor="t"/>
          <a:lstStyle/>
          <a:p>
            <a:pPr algn="ctr" indent="0" marL="0">
              <a:lnSpc>
                <a:spcPts val="2400"/>
              </a:lnSpc>
              <a:buNone/>
            </a:pPr>
            <a:r>
              <a:rPr lang="en-US" sz="2400" dirty="0">
                <a:solidFill>
                  <a:srgbClr val="DAD8E9"/>
                </a:solidFill>
                <a:latin typeface="Prompt Medium" pitchFamily="34" charset="0"/>
                <a:ea typeface="Prompt Medium" pitchFamily="34" charset="-122"/>
                <a:cs typeface="Prompt Medium" pitchFamily="34" charset="-120"/>
              </a:rPr>
              <a:t>2</a:t>
            </a:r>
            <a:endParaRPr lang="en-US" sz="2400" dirty="0"/>
          </a:p>
        </p:txBody>
      </p:sp>
      <p:sp>
        <p:nvSpPr>
          <p:cNvPr id="10" name="Text 7"/>
          <p:cNvSpPr/>
          <p:nvPr/>
        </p:nvSpPr>
        <p:spPr>
          <a:xfrm>
            <a:off x="5994440" y="4779050"/>
            <a:ext cx="3393043" cy="321112"/>
          </a:xfrm>
          <a:prstGeom prst="rect">
            <a:avLst/>
          </a:prstGeom>
          <a:noFill/>
          <a:ln/>
        </p:spPr>
        <p:txBody>
          <a:bodyPr wrap="none" lIns="0" tIns="0" rIns="0" bIns="0" rtlCol="0" anchor="t"/>
          <a:lstStyle/>
          <a:p>
            <a:pPr algn="l" indent="0" marL="0">
              <a:lnSpc>
                <a:spcPts val="2500"/>
              </a:lnSpc>
              <a:buNone/>
            </a:pPr>
            <a:r>
              <a:rPr lang="en-US" sz="2000" dirty="0">
                <a:solidFill>
                  <a:srgbClr val="DAD8E9"/>
                </a:solidFill>
                <a:latin typeface="Prompt Medium" pitchFamily="34" charset="0"/>
                <a:ea typeface="Prompt Medium" pitchFamily="34" charset="-122"/>
                <a:cs typeface="Prompt Medium" pitchFamily="34" charset="-120"/>
              </a:rPr>
              <a:t>Anti-Bypass mask-up links </a:t>
            </a:r>
            <a:endParaRPr lang="en-US" sz="2000" dirty="0"/>
          </a:p>
        </p:txBody>
      </p:sp>
      <p:sp>
        <p:nvSpPr>
          <p:cNvPr id="11" name="Text 8"/>
          <p:cNvSpPr/>
          <p:nvPr/>
        </p:nvSpPr>
        <p:spPr>
          <a:xfrm>
            <a:off x="5994440" y="5238869"/>
            <a:ext cx="3393043" cy="1109782"/>
          </a:xfrm>
          <a:prstGeom prst="rect">
            <a:avLst/>
          </a:prstGeom>
          <a:noFill/>
          <a:ln/>
        </p:spPr>
        <p:txBody>
          <a:bodyPr wrap="square" lIns="0" tIns="0" rIns="0" bIns="0" rtlCol="0" anchor="t"/>
          <a:lstStyle/>
          <a:p>
            <a:pPr algn="l" indent="0" marL="0">
              <a:lnSpc>
                <a:spcPts val="2900"/>
              </a:lnSpc>
              <a:buNone/>
            </a:pPr>
            <a:r>
              <a:rPr lang="en-US" sz="1800" dirty="0">
                <a:solidFill>
                  <a:srgbClr val="DAD8E9"/>
                </a:solidFill>
                <a:latin typeface="Mukta Light" pitchFamily="34" charset="0"/>
                <a:ea typeface="Mukta Light" pitchFamily="34" charset="-122"/>
                <a:cs typeface="Mukta Light" pitchFamily="34" charset="-120"/>
              </a:rPr>
              <a:t>The advance phishing attack can bypass the detectors , which is why it is improving time by time   .</a:t>
            </a:r>
            <a:endParaRPr lang="en-US" sz="1800" dirty="0"/>
          </a:p>
        </p:txBody>
      </p:sp>
      <p:sp>
        <p:nvSpPr>
          <p:cNvPr id="12" name="Shape 9"/>
          <p:cNvSpPr/>
          <p:nvPr/>
        </p:nvSpPr>
        <p:spPr>
          <a:xfrm>
            <a:off x="9676448" y="4699635"/>
            <a:ext cx="520303" cy="520303"/>
          </a:xfrm>
          <a:prstGeom prst="roundRect">
            <a:avLst>
              <a:gd name="adj" fmla="val 18668"/>
            </a:avLst>
          </a:prstGeom>
          <a:solidFill>
            <a:srgbClr val="542C49"/>
          </a:solidFill>
          <a:ln w="7620">
            <a:solidFill>
              <a:srgbClr val="6D4562"/>
            </a:solidFill>
            <a:prstDash val="solid"/>
          </a:ln>
        </p:spPr>
      </p:sp>
      <p:sp>
        <p:nvSpPr>
          <p:cNvPr id="13" name="Text 10"/>
          <p:cNvSpPr/>
          <p:nvPr/>
        </p:nvSpPr>
        <p:spPr>
          <a:xfrm>
            <a:off x="9782473" y="4767084"/>
            <a:ext cx="308253" cy="385405"/>
          </a:xfrm>
          <a:prstGeom prst="rect">
            <a:avLst/>
          </a:prstGeom>
          <a:noFill/>
          <a:ln/>
        </p:spPr>
        <p:txBody>
          <a:bodyPr wrap="none" lIns="0" tIns="0" rIns="0" bIns="0" rtlCol="0" anchor="t"/>
          <a:lstStyle/>
          <a:p>
            <a:pPr algn="ctr" indent="0" marL="0">
              <a:lnSpc>
                <a:spcPts val="2400"/>
              </a:lnSpc>
              <a:buNone/>
            </a:pPr>
            <a:r>
              <a:rPr lang="en-US" sz="2400" dirty="0">
                <a:solidFill>
                  <a:srgbClr val="DAD8E9"/>
                </a:solidFill>
                <a:latin typeface="Prompt Medium" pitchFamily="34" charset="0"/>
                <a:ea typeface="Prompt Medium" pitchFamily="34" charset="-122"/>
                <a:cs typeface="Prompt Medium" pitchFamily="34" charset="-120"/>
              </a:rPr>
              <a:t>3</a:t>
            </a:r>
            <a:endParaRPr lang="en-US" sz="2400" dirty="0"/>
          </a:p>
        </p:txBody>
      </p:sp>
      <p:sp>
        <p:nvSpPr>
          <p:cNvPr id="14" name="Text 11"/>
          <p:cNvSpPr/>
          <p:nvPr/>
        </p:nvSpPr>
        <p:spPr>
          <a:xfrm>
            <a:off x="10427970" y="4779050"/>
            <a:ext cx="2569488" cy="321112"/>
          </a:xfrm>
          <a:prstGeom prst="rect">
            <a:avLst/>
          </a:prstGeom>
          <a:noFill/>
          <a:ln/>
        </p:spPr>
        <p:txBody>
          <a:bodyPr wrap="none" lIns="0" tIns="0" rIns="0" bIns="0" rtlCol="0" anchor="t"/>
          <a:lstStyle/>
          <a:p>
            <a:pPr algn="l" indent="0" marL="0">
              <a:lnSpc>
                <a:spcPts val="2500"/>
              </a:lnSpc>
              <a:buNone/>
            </a:pPr>
            <a:r>
              <a:rPr lang="en-US" sz="2000" dirty="0">
                <a:solidFill>
                  <a:srgbClr val="DAD8E9"/>
                </a:solidFill>
                <a:latin typeface="Prompt Medium" pitchFamily="34" charset="0"/>
                <a:ea typeface="Prompt Medium" pitchFamily="34" charset="-122"/>
                <a:cs typeface="Prompt Medium" pitchFamily="34" charset="-120"/>
              </a:rPr>
              <a:t>Browser Extension</a:t>
            </a:r>
            <a:endParaRPr lang="en-US" sz="2000" dirty="0"/>
          </a:p>
        </p:txBody>
      </p:sp>
      <p:sp>
        <p:nvSpPr>
          <p:cNvPr id="15" name="Text 12"/>
          <p:cNvSpPr/>
          <p:nvPr/>
        </p:nvSpPr>
        <p:spPr>
          <a:xfrm>
            <a:off x="10427970" y="5238869"/>
            <a:ext cx="3393043" cy="1849636"/>
          </a:xfrm>
          <a:prstGeom prst="rect">
            <a:avLst/>
          </a:prstGeom>
          <a:noFill/>
          <a:ln/>
        </p:spPr>
        <p:txBody>
          <a:bodyPr wrap="square" lIns="0" tIns="0" rIns="0" bIns="0" rtlCol="0" anchor="t"/>
          <a:lstStyle/>
          <a:p>
            <a:pPr algn="l" indent="0" marL="0">
              <a:lnSpc>
                <a:spcPts val="2900"/>
              </a:lnSpc>
              <a:buNone/>
            </a:pPr>
            <a:r>
              <a:rPr lang="en-US" sz="1800" dirty="0">
                <a:solidFill>
                  <a:srgbClr val="DAD8E9"/>
                </a:solidFill>
                <a:latin typeface="Mukta Light" pitchFamily="34" charset="0"/>
                <a:ea typeface="Mukta Light" pitchFamily="34" charset="-122"/>
                <a:cs typeface="Mukta Light" pitchFamily="34" charset="-120"/>
              </a:rPr>
              <a:t>Integrating our detector as a browser extension will provide real-time protection against phishing attacks, allowing users to confidently navigate the web.</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823674" y="837009"/>
            <a:ext cx="7496651" cy="1307306"/>
          </a:xfrm>
          <a:prstGeom prst="rect">
            <a:avLst/>
          </a:prstGeom>
          <a:noFill/>
          <a:ln/>
        </p:spPr>
        <p:txBody>
          <a:bodyPr wrap="square" lIns="0" tIns="0" rIns="0" bIns="0" rtlCol="0" anchor="t"/>
          <a:lstStyle/>
          <a:p>
            <a:pPr algn="l" indent="0" marL="0">
              <a:lnSpc>
                <a:spcPts val="5100"/>
              </a:lnSpc>
              <a:buNone/>
            </a:pPr>
            <a:r>
              <a:rPr lang="en-US" sz="4100" dirty="0">
                <a:solidFill>
                  <a:srgbClr val="C6BFEE"/>
                </a:solidFill>
                <a:latin typeface="Prompt Medium" pitchFamily="34" charset="0"/>
                <a:ea typeface="Prompt Medium" pitchFamily="34" charset="-122"/>
                <a:cs typeface="Prompt Medium" pitchFamily="34" charset="-120"/>
              </a:rPr>
              <a:t>Live Demo: Putting Our Detector to the Test</a:t>
            </a:r>
            <a:endParaRPr lang="en-US" sz="4100" dirty="0"/>
          </a:p>
        </p:txBody>
      </p:sp>
      <p:sp>
        <p:nvSpPr>
          <p:cNvPr id="4" name="Text 1"/>
          <p:cNvSpPr/>
          <p:nvPr/>
        </p:nvSpPr>
        <p:spPr>
          <a:xfrm>
            <a:off x="823674" y="2614851"/>
            <a:ext cx="3601283" cy="776526"/>
          </a:xfrm>
          <a:prstGeom prst="rect">
            <a:avLst/>
          </a:prstGeom>
          <a:noFill/>
          <a:ln/>
        </p:spPr>
        <p:txBody>
          <a:bodyPr wrap="none" lIns="0" tIns="0" rIns="0" bIns="0" rtlCol="0" anchor="t"/>
          <a:lstStyle/>
          <a:p>
            <a:pPr algn="ctr" indent="0" marL="0">
              <a:lnSpc>
                <a:spcPts val="6100"/>
              </a:lnSpc>
              <a:buNone/>
            </a:pPr>
            <a:r>
              <a:rPr lang="en-US" sz="6100" dirty="0">
                <a:solidFill>
                  <a:srgbClr val="DAD8E9"/>
                </a:solidFill>
                <a:latin typeface="Prompt Medium" pitchFamily="34" charset="0"/>
                <a:ea typeface="Prompt Medium" pitchFamily="34" charset="-122"/>
                <a:cs typeface="Prompt Medium" pitchFamily="34" charset="-120"/>
              </a:rPr>
              <a:t>1</a:t>
            </a:r>
            <a:endParaRPr lang="en-US" sz="6100" dirty="0"/>
          </a:p>
        </p:txBody>
      </p:sp>
      <p:sp>
        <p:nvSpPr>
          <p:cNvPr id="5" name="Text 2"/>
          <p:cNvSpPr/>
          <p:nvPr/>
        </p:nvSpPr>
        <p:spPr>
          <a:xfrm>
            <a:off x="1316831" y="3685461"/>
            <a:ext cx="2614851" cy="326827"/>
          </a:xfrm>
          <a:prstGeom prst="rect">
            <a:avLst/>
          </a:prstGeom>
          <a:noFill/>
          <a:ln/>
        </p:spPr>
        <p:txBody>
          <a:bodyPr wrap="none" lIns="0" tIns="0" rIns="0" bIns="0" rtlCol="0" anchor="t"/>
          <a:lstStyle/>
          <a:p>
            <a:pPr algn="ctr" indent="0" marL="0">
              <a:lnSpc>
                <a:spcPts val="2550"/>
              </a:lnSpc>
              <a:buNone/>
            </a:pPr>
            <a:r>
              <a:rPr lang="en-US" sz="2050" dirty="0">
                <a:solidFill>
                  <a:srgbClr val="DAD8E9"/>
                </a:solidFill>
                <a:latin typeface="Prompt Medium" pitchFamily="34" charset="0"/>
                <a:ea typeface="Prompt Medium" pitchFamily="34" charset="-122"/>
                <a:cs typeface="Prompt Medium" pitchFamily="34" charset="-120"/>
              </a:rPr>
              <a:t>URL Input</a:t>
            </a:r>
            <a:endParaRPr lang="en-US" sz="2050" dirty="0"/>
          </a:p>
        </p:txBody>
      </p:sp>
      <p:sp>
        <p:nvSpPr>
          <p:cNvPr id="6" name="Text 3"/>
          <p:cNvSpPr/>
          <p:nvPr/>
        </p:nvSpPr>
        <p:spPr>
          <a:xfrm>
            <a:off x="4719042" y="2614851"/>
            <a:ext cx="3601283" cy="776526"/>
          </a:xfrm>
          <a:prstGeom prst="rect">
            <a:avLst/>
          </a:prstGeom>
          <a:noFill/>
          <a:ln/>
        </p:spPr>
        <p:txBody>
          <a:bodyPr wrap="none" lIns="0" tIns="0" rIns="0" bIns="0" rtlCol="0" anchor="t"/>
          <a:lstStyle/>
          <a:p>
            <a:pPr algn="ctr" indent="0" marL="0">
              <a:lnSpc>
                <a:spcPts val="6100"/>
              </a:lnSpc>
              <a:buNone/>
            </a:pPr>
            <a:r>
              <a:rPr lang="en-US" sz="6100" dirty="0">
                <a:solidFill>
                  <a:srgbClr val="DAD8E9"/>
                </a:solidFill>
                <a:latin typeface="Prompt Medium" pitchFamily="34" charset="0"/>
                <a:ea typeface="Prompt Medium" pitchFamily="34" charset="-122"/>
                <a:cs typeface="Prompt Medium" pitchFamily="34" charset="-120"/>
              </a:rPr>
              <a:t>2</a:t>
            </a:r>
            <a:endParaRPr lang="en-US" sz="6100" dirty="0"/>
          </a:p>
        </p:txBody>
      </p:sp>
      <p:sp>
        <p:nvSpPr>
          <p:cNvPr id="7" name="Text 4"/>
          <p:cNvSpPr/>
          <p:nvPr/>
        </p:nvSpPr>
        <p:spPr>
          <a:xfrm>
            <a:off x="5212199" y="3685461"/>
            <a:ext cx="2614851" cy="326827"/>
          </a:xfrm>
          <a:prstGeom prst="rect">
            <a:avLst/>
          </a:prstGeom>
          <a:noFill/>
          <a:ln/>
        </p:spPr>
        <p:txBody>
          <a:bodyPr wrap="none" lIns="0" tIns="0" rIns="0" bIns="0" rtlCol="0" anchor="t"/>
          <a:lstStyle/>
          <a:p>
            <a:pPr algn="ctr" indent="0" marL="0">
              <a:lnSpc>
                <a:spcPts val="2550"/>
              </a:lnSpc>
              <a:buNone/>
            </a:pPr>
            <a:r>
              <a:rPr lang="en-US" sz="2050" dirty="0">
                <a:solidFill>
                  <a:srgbClr val="DAD8E9"/>
                </a:solidFill>
                <a:latin typeface="Prompt Medium" pitchFamily="34" charset="0"/>
                <a:ea typeface="Prompt Medium" pitchFamily="34" charset="-122"/>
                <a:cs typeface="Prompt Medium" pitchFamily="34" charset="-120"/>
              </a:rPr>
              <a:t>Analysis</a:t>
            </a:r>
            <a:endParaRPr lang="en-US" sz="2050" dirty="0"/>
          </a:p>
        </p:txBody>
      </p:sp>
      <p:sp>
        <p:nvSpPr>
          <p:cNvPr id="8" name="Text 5"/>
          <p:cNvSpPr/>
          <p:nvPr/>
        </p:nvSpPr>
        <p:spPr>
          <a:xfrm>
            <a:off x="2771299" y="4600575"/>
            <a:ext cx="3601283" cy="776526"/>
          </a:xfrm>
          <a:prstGeom prst="rect">
            <a:avLst/>
          </a:prstGeom>
          <a:noFill/>
          <a:ln/>
        </p:spPr>
        <p:txBody>
          <a:bodyPr wrap="none" lIns="0" tIns="0" rIns="0" bIns="0" rtlCol="0" anchor="t"/>
          <a:lstStyle/>
          <a:p>
            <a:pPr algn="ctr" indent="0" marL="0">
              <a:lnSpc>
                <a:spcPts val="6100"/>
              </a:lnSpc>
              <a:buNone/>
            </a:pPr>
            <a:r>
              <a:rPr lang="en-US" sz="6100" dirty="0">
                <a:solidFill>
                  <a:srgbClr val="DAD8E9"/>
                </a:solidFill>
                <a:latin typeface="Prompt Medium" pitchFamily="34" charset="0"/>
                <a:ea typeface="Prompt Medium" pitchFamily="34" charset="-122"/>
                <a:cs typeface="Prompt Medium" pitchFamily="34" charset="-120"/>
              </a:rPr>
              <a:t>3</a:t>
            </a:r>
            <a:endParaRPr lang="en-US" sz="6100" dirty="0"/>
          </a:p>
        </p:txBody>
      </p:sp>
      <p:sp>
        <p:nvSpPr>
          <p:cNvPr id="9" name="Text 6"/>
          <p:cNvSpPr/>
          <p:nvPr/>
        </p:nvSpPr>
        <p:spPr>
          <a:xfrm>
            <a:off x="3264456" y="5671185"/>
            <a:ext cx="2614851" cy="326827"/>
          </a:xfrm>
          <a:prstGeom prst="rect">
            <a:avLst/>
          </a:prstGeom>
          <a:noFill/>
          <a:ln/>
        </p:spPr>
        <p:txBody>
          <a:bodyPr wrap="none" lIns="0" tIns="0" rIns="0" bIns="0" rtlCol="0" anchor="t"/>
          <a:lstStyle/>
          <a:p>
            <a:pPr algn="ctr" indent="0" marL="0">
              <a:lnSpc>
                <a:spcPts val="2550"/>
              </a:lnSpc>
              <a:buNone/>
            </a:pPr>
            <a:r>
              <a:rPr lang="en-US" sz="2050" dirty="0">
                <a:solidFill>
                  <a:srgbClr val="DAD8E9"/>
                </a:solidFill>
                <a:latin typeface="Prompt Medium" pitchFamily="34" charset="0"/>
                <a:ea typeface="Prompt Medium" pitchFamily="34" charset="-122"/>
                <a:cs typeface="Prompt Medium" pitchFamily="34" charset="-120"/>
              </a:rPr>
              <a:t>Results</a:t>
            </a:r>
            <a:endParaRPr lang="en-US" sz="2050" dirty="0"/>
          </a:p>
        </p:txBody>
      </p:sp>
      <p:sp>
        <p:nvSpPr>
          <p:cNvPr id="10" name="Text 7"/>
          <p:cNvSpPr/>
          <p:nvPr/>
        </p:nvSpPr>
        <p:spPr>
          <a:xfrm>
            <a:off x="823674" y="6262688"/>
            <a:ext cx="7496651" cy="1129784"/>
          </a:xfrm>
          <a:prstGeom prst="rect">
            <a:avLst/>
          </a:prstGeom>
          <a:noFill/>
          <a:ln/>
        </p:spPr>
        <p:txBody>
          <a:bodyPr wrap="square" lIns="0" tIns="0" rIns="0" bIns="0" rtlCol="0" anchor="t"/>
          <a:lstStyle/>
          <a:p>
            <a:pPr algn="l" indent="0" marL="0">
              <a:lnSpc>
                <a:spcPts val="2950"/>
              </a:lnSpc>
              <a:buNone/>
            </a:pPr>
            <a:r>
              <a:rPr lang="en-US" sz="1850" dirty="0">
                <a:solidFill>
                  <a:srgbClr val="DAD8E9"/>
                </a:solidFill>
                <a:latin typeface="Mukta Light" pitchFamily="34" charset="0"/>
                <a:ea typeface="Mukta Light" pitchFamily="34" charset="-122"/>
                <a:cs typeface="Mukta Light" pitchFamily="34" charset="-120"/>
              </a:rPr>
              <a:t>This live demo will showcase how our detector operates in real-time. We will demonstrate the input process, the analysis performed by the program, and the final output, including the risk score and warning message.</a:t>
            </a:r>
            <a:endParaRPr lang="en-US" sz="1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350437" y="2599134"/>
            <a:ext cx="5486400" cy="685800"/>
          </a:xfrm>
          <a:prstGeom prst="rect">
            <a:avLst/>
          </a:prstGeom>
          <a:noFill/>
          <a:ln/>
        </p:spPr>
        <p:txBody>
          <a:bodyPr wrap="none" lIns="0" tIns="0" rIns="0" bIns="0" rtlCol="0" anchor="t"/>
          <a:lstStyle/>
          <a:p>
            <a:pPr algn="l" indent="0" marL="0">
              <a:lnSpc>
                <a:spcPts val="5400"/>
              </a:lnSpc>
              <a:buNone/>
            </a:pPr>
            <a:r>
              <a:rPr lang="en-US" sz="4300" dirty="0">
                <a:solidFill>
                  <a:srgbClr val="C6BFEE"/>
                </a:solidFill>
                <a:latin typeface="Prompt Medium" pitchFamily="34" charset="0"/>
                <a:ea typeface="Prompt Medium" pitchFamily="34" charset="-122"/>
                <a:cs typeface="Prompt Medium" pitchFamily="34" charset="-120"/>
              </a:rPr>
              <a:t>Conclusion &amp; Q&amp;A</a:t>
            </a:r>
            <a:endParaRPr lang="en-US" sz="4300" dirty="0"/>
          </a:p>
        </p:txBody>
      </p:sp>
      <p:sp>
        <p:nvSpPr>
          <p:cNvPr id="4" name="Text 1"/>
          <p:cNvSpPr/>
          <p:nvPr/>
        </p:nvSpPr>
        <p:spPr>
          <a:xfrm>
            <a:off x="6350437" y="3655219"/>
            <a:ext cx="7415927" cy="1975247"/>
          </a:xfrm>
          <a:prstGeom prst="rect">
            <a:avLst/>
          </a:prstGeom>
          <a:noFill/>
          <a:ln/>
        </p:spPr>
        <p:txBody>
          <a:bodyPr wrap="square" lIns="0" tIns="0" rIns="0" bIns="0" rtlCol="0" anchor="t"/>
          <a:lstStyle/>
          <a:p>
            <a:pPr algn="l" indent="0" marL="0">
              <a:lnSpc>
                <a:spcPts val="3100"/>
              </a:lnSpc>
              <a:buNone/>
            </a:pPr>
            <a:r>
              <a:rPr lang="en-US" sz="1900" dirty="0">
                <a:solidFill>
                  <a:srgbClr val="DAD8E9"/>
                </a:solidFill>
                <a:latin typeface="Mukta Light" pitchFamily="34" charset="0"/>
                <a:ea typeface="Mukta Light" pitchFamily="34" charset="-122"/>
                <a:cs typeface="Mukta Light" pitchFamily="34" charset="-120"/>
              </a:rPr>
              <a:t>In conclusion, this project serves as a powerful tool in the fight against phishing attacks. By raising awareness and providing a practical solution, we aim to empower individuals with the knowledge and tools they need to stay safe online. We encourage you to ask any questions you may have about our detector or the broader topic of cybersecurity.</a:t>
            </a:r>
            <a:endParaRPr lang="en-US" sz="1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2025-12-25T08:41:37Z</dcterms:created>
  <dcterms:modified xsi:type="dcterms:W3CDTF">2025-12-25T08:41:37Z</dcterms:modified>
</cp:coreProperties>
</file>